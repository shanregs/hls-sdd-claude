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8" r:id="rId10"/>
    <p:sldId id="269" r:id="rId11"/>
    <p:sldId id="270" r:id="rId12"/>
    <p:sldId id="271" r:id="rId13"/>
    <p:sldId id="272" r:id="rId14"/>
    <p:sldId id="264" r:id="rId15"/>
    <p:sldId id="265" r:id="rId16"/>
    <p:sldId id="266" r:id="rId17"/>
    <p:sldId id="267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3" autoAdjust="0"/>
    <p:restoredTop sz="94660"/>
  </p:normalViewPr>
  <p:slideViewPr>
    <p:cSldViewPr snapToGrid="0" snapToObjects="1">
      <p:cViewPr varScale="1">
        <p:scale>
          <a:sx n="115" d="100"/>
          <a:sy n="115" d="100"/>
        </p:scale>
        <p:origin x="624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309242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rPr lang="en-US" sz="3800" b="1" dirty="0">
                <a:solidFill>
                  <a:srgbClr val="FFFFFF"/>
                </a:solidFill>
              </a:rPr>
              <a:t>HLS  - Operations Management System</a:t>
            </a:r>
          </a:p>
          <a:p>
            <a:pPr>
              <a:defRPr sz="2000">
                <a:solidFill>
                  <a:srgbClr val="D2E1F5"/>
                </a:solidFill>
              </a:defRPr>
            </a:pPr>
            <a:r>
              <a:rPr lang="en-US" sz="2000" dirty="0">
                <a:solidFill>
                  <a:srgbClr val="D2E1F5"/>
                </a:solidFill>
              </a:rPr>
              <a:t>From Recruitment &amp; School Acquisition to Teacher Operations &amp; Payroll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3154680"/>
            <a:ext cx="2487168" cy="1508760"/>
          </a:xfrm>
          <a:prstGeom prst="roundRect">
            <a:avLst/>
          </a:prstGeom>
          <a:solidFill>
            <a:srgbClr val="F1F5F9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77240" y="3154680"/>
            <a:ext cx="73152" cy="1508760"/>
          </a:xfrm>
          <a:prstGeom prst="rect">
            <a:avLst/>
          </a:prstGeom>
          <a:solidFill>
            <a:srgbClr val="28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78408" y="3319272"/>
            <a:ext cx="212140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B48"/>
                </a:solidFill>
              </a:defRPr>
            </a:pPr>
            <a:r>
              <a:rPr lang="en-US" sz="1500" b="1">
                <a:solidFill>
                  <a:srgbClr val="182B48"/>
                </a:solidFill>
              </a:rPr>
              <a:t>Recruitment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" y="3721608"/>
            <a:ext cx="2103120" cy="795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E293B"/>
                </a:solidFill>
              </a:defRPr>
            </a:pPr>
            <a:r>
              <a:rPr lang="en-US" sz="1150">
                <a:solidFill>
                  <a:srgbClr val="1E293B"/>
                </a:solidFill>
              </a:rPr>
              <a:t>College → Assessment → Selection → Offer → Training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93008" y="3154680"/>
            <a:ext cx="2487168" cy="1508760"/>
          </a:xfrm>
          <a:prstGeom prst="roundRect">
            <a:avLst/>
          </a:prstGeom>
          <a:solidFill>
            <a:srgbClr val="F1F5F9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493008" y="3154680"/>
            <a:ext cx="73152" cy="1508760"/>
          </a:xfrm>
          <a:prstGeom prst="rect">
            <a:avLst/>
          </a:prstGeom>
          <a:solidFill>
            <a:srgbClr val="2D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94176" y="3319272"/>
            <a:ext cx="212140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B48"/>
                </a:solidFill>
              </a:defRPr>
            </a:pPr>
            <a:r>
              <a:rPr lang="en-US" sz="1500" b="1">
                <a:solidFill>
                  <a:srgbClr val="182B48"/>
                </a:solidFill>
              </a:rPr>
              <a:t>School Operations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94176" y="3721608"/>
            <a:ext cx="2103120" cy="795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E293B"/>
                </a:solidFill>
              </a:defRPr>
            </a:pPr>
            <a:r>
              <a:rPr lang="en-US" sz="1150">
                <a:solidFill>
                  <a:srgbClr val="1E293B"/>
                </a:solidFill>
              </a:rPr>
              <a:t>School visits → MoU → Teacher allocation → Monitoring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8776" y="3154680"/>
            <a:ext cx="2487168" cy="1508760"/>
          </a:xfrm>
          <a:prstGeom prst="roundRect">
            <a:avLst/>
          </a:prstGeom>
          <a:solidFill>
            <a:srgbClr val="F1F5F9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08776" y="3154680"/>
            <a:ext cx="73152" cy="1508760"/>
          </a:xfrm>
          <a:prstGeom prst="rect">
            <a:avLst/>
          </a:prstGeom>
          <a:solidFill>
            <a:srgbClr val="DC8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9944" y="3319272"/>
            <a:ext cx="212140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B48"/>
                </a:solidFill>
              </a:defRPr>
            </a:pPr>
            <a:r>
              <a:rPr lang="en-US" sz="1500" b="1">
                <a:solidFill>
                  <a:srgbClr val="182B48"/>
                </a:solidFill>
              </a:rPr>
              <a:t>Management Control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9944" y="3721608"/>
            <a:ext cx="2103120" cy="795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E293B"/>
                </a:solidFill>
              </a:defRPr>
            </a:pPr>
            <a:r>
              <a:rPr lang="en-US" sz="1150">
                <a:solidFill>
                  <a:srgbClr val="1E293B"/>
                </a:solidFill>
              </a:rPr>
              <a:t>Tasks → Visibility → Alerts → Reports → Decisions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623560"/>
            <a:ext cx="10607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rPr lang="en-US" sz="1400">
                <a:solidFill>
                  <a:srgbClr val="FFFFFF"/>
                </a:solidFill>
              </a:rPr>
              <a:t>Director Presentation — Proposed System</a:t>
            </a:r>
          </a:p>
        </p:txBody>
      </p:sp>
      <p:sp>
        <p:nvSpPr>
          <p:cNvPr id="17" name="Rounded Rectangle 11"/>
          <p:cNvSpPr/>
          <p:nvPr/>
        </p:nvSpPr>
        <p:spPr>
          <a:xfrm>
            <a:off x="8924544" y="3154680"/>
            <a:ext cx="2487168" cy="1508760"/>
          </a:xfrm>
          <a:prstGeom prst="roundRect">
            <a:avLst/>
          </a:prstGeom>
          <a:solidFill>
            <a:srgbClr val="E8F5EE"/>
          </a:solidFill>
          <a:ln>
            <a:solidFill>
              <a:srgbClr val="228B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2"/>
          <p:cNvSpPr/>
          <p:nvPr/>
        </p:nvSpPr>
        <p:spPr>
          <a:xfrm>
            <a:off x="8924544" y="3154680"/>
            <a:ext cx="73152" cy="1508760"/>
          </a:xfrm>
          <a:prstGeom prst="rect">
            <a:avLst/>
          </a:prstGeom>
          <a:solidFill>
            <a:srgbClr val="228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3"/>
          <p:cNvSpPr txBox="1"/>
          <p:nvPr/>
        </p:nvSpPr>
        <p:spPr>
          <a:xfrm>
            <a:off x="9125712" y="3319272"/>
            <a:ext cx="212140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B48"/>
                </a:solidFill>
              </a:defRPr>
            </a:pPr>
            <a:r>
              <a:rPr lang="en-US" sz="1500" b="1">
                <a:solidFill>
                  <a:srgbClr val="182B48"/>
                </a:solidFill>
              </a:rPr>
              <a:t>Attendance &amp; Payroll</a:t>
            </a:r>
          </a:p>
        </p:txBody>
      </p:sp>
      <p:sp>
        <p:nvSpPr>
          <p:cNvPr id="20" name="TextBox 14"/>
          <p:cNvSpPr txBox="1"/>
          <p:nvPr/>
        </p:nvSpPr>
        <p:spPr>
          <a:xfrm>
            <a:off x="9125712" y="3721608"/>
            <a:ext cx="2103120" cy="795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E293B"/>
                </a:solidFill>
              </a:defRPr>
            </a:pPr>
            <a:r>
              <a:rPr lang="en-US" sz="1150">
                <a:solidFill>
                  <a:srgbClr val="1E293B"/>
                </a:solidFill>
              </a:rPr>
              <a:t>Daily attendance → LOP → Salary → Approval → Payslip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B48"/>
                </a:solidFill>
              </a:defRPr>
            </a:pPr>
            <a:r>
              <a:rPr lang="en-US" sz="2700" b="1">
                <a:solidFill>
                  <a:srgbClr val="182B48"/>
                </a:solidFill>
              </a:rPr>
              <a:t>Why are we building this system?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rPr lang="en-US" sz="1200">
                <a:solidFill>
                  <a:srgbClr val="64748B"/>
                </a:solidFill>
              </a:rPr>
              <a:t>The current process depends heavily on verbal updates, delayed reporting and manual attendance &amp; salary handling.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3474720" cy="4206240"/>
          </a:xfrm>
          <a:prstGeom prst="roundRect">
            <a:avLst/>
          </a:prstGeom>
          <a:solidFill>
            <a:srgbClr val="F1F5F9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73152" cy="4206240"/>
          </a:xfrm>
          <a:prstGeom prst="rect">
            <a:avLst/>
          </a:prstGeom>
          <a:solidFill>
            <a:srgbClr val="BE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1581912"/>
            <a:ext cx="3108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B48"/>
                </a:solidFill>
              </a:defRPr>
            </a:pPr>
            <a:r>
              <a:rPr lang="en-US" sz="1500" b="1">
                <a:solidFill>
                  <a:srgbClr val="182B48"/>
                </a:solidFill>
              </a:rPr>
              <a:t>Today’s 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984248"/>
            <a:ext cx="3090672" cy="3493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E293B"/>
                </a:solidFill>
              </a:defRPr>
            </a:pPr>
            <a:r>
              <a:rPr lang="en-US" sz="1150">
                <a:solidFill>
                  <a:srgbClr val="1E293B"/>
                </a:solidFill>
              </a:rPr>
              <a:t>• Limited visibility into manager activities</a:t>
            </a:r>
            <a:br/>
            <a:r>
              <a:rPr lang="en-US" sz="1150">
                <a:solidFill>
                  <a:srgbClr val="1E293B"/>
                </a:solidFill>
              </a:rPr>
              <a:t>• School visits are not centrally tracked</a:t>
            </a:r>
            <a:br/>
            <a:r>
              <a:rPr lang="en-US" sz="1150">
                <a:solidFill>
                  <a:srgbClr val="1E293B"/>
                </a:solidFill>
              </a:rPr>
              <a:t>• Content may be prepared without the actual output being submitted</a:t>
            </a:r>
            <a:br/>
            <a:r>
              <a:rPr lang="en-US" sz="1150">
                <a:solidFill>
                  <a:srgbClr val="1E293B"/>
                </a:solidFill>
              </a:rPr>
              <a:t>• Recruitment-to-joining conversion is difficult to monitor</a:t>
            </a:r>
            <a:br/>
            <a:r>
              <a:rPr lang="en-US" sz="1150">
                <a:solidFill>
                  <a:srgbClr val="1E293B"/>
                </a:solidFill>
              </a:rPr>
              <a:t>• Teacher performance information is distributed</a:t>
            </a:r>
            <a:br/>
            <a:r>
              <a:rPr lang="en-US" sz="1150">
                <a:solidFill>
                  <a:srgbClr val="1E293B"/>
                </a:solidFill>
              </a:rPr>
              <a:t>• Substitution and teacher changes require manual coordination</a:t>
            </a:r>
            <a:br/>
            <a:r>
              <a:rPr lang="en-US" sz="1150" b="1">
                <a:solidFill>
                  <a:srgbClr val="228B59"/>
                </a:solidFill>
              </a:rPr>
              <a:t>• Teacher &amp; manager attendance kept on paper / WhatsApp</a:t>
            </a:r>
            <a:br/>
            <a:r>
              <a:rPr lang="en-US" sz="1150" b="1">
                <a:solidFill>
                  <a:srgbClr val="228B59"/>
                </a:solidFill>
              </a:rPr>
              <a:t>• Salary calculated manually, outside any system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417320"/>
            <a:ext cx="3474720" cy="4206240"/>
          </a:xfrm>
          <a:prstGeom prst="roundRect">
            <a:avLst/>
          </a:prstGeom>
          <a:solidFill>
            <a:srgbClr val="F1F5F9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70832" y="1417320"/>
            <a:ext cx="73152" cy="4206240"/>
          </a:xfrm>
          <a:prstGeom prst="rect">
            <a:avLst/>
          </a:prstGeom>
          <a:solidFill>
            <a:srgbClr val="2D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1581912"/>
            <a:ext cx="3108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B48"/>
                </a:solidFill>
              </a:defRPr>
            </a:pPr>
            <a:r>
              <a:rPr lang="en-US" sz="1500" b="1">
                <a:solidFill>
                  <a:srgbClr val="182B48"/>
                </a:solidFill>
              </a:rPr>
              <a:t>What Management Needs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984248"/>
            <a:ext cx="3090672" cy="3493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E293B"/>
                </a:solidFill>
              </a:defRPr>
            </a:pPr>
            <a:r>
              <a:rPr lang="en-US" sz="1150">
                <a:solidFill>
                  <a:srgbClr val="1E293B"/>
                </a:solidFill>
              </a:rPr>
              <a:t>• One place to see all activities</a:t>
            </a:r>
            <a:br/>
            <a:r>
              <a:rPr lang="en-US" sz="1150">
                <a:solidFill>
                  <a:srgbClr val="1E293B"/>
                </a:solidFill>
              </a:rPr>
              <a:t>• Clear responsibility for every task</a:t>
            </a:r>
            <a:br/>
            <a:r>
              <a:rPr lang="en-US" sz="1150">
                <a:solidFill>
                  <a:srgbClr val="1E293B"/>
                </a:solidFill>
              </a:rPr>
              <a:t>• Planned vs completed activity</a:t>
            </a:r>
            <a:br/>
            <a:r>
              <a:rPr lang="en-US" sz="1150">
                <a:solidFill>
                  <a:srgbClr val="1E293B"/>
                </a:solidFill>
              </a:rPr>
              <a:t>• School pipeline and MoU status</a:t>
            </a:r>
            <a:br/>
            <a:r>
              <a:rPr lang="en-US" sz="1150">
                <a:solidFill>
                  <a:srgbClr val="1E293B"/>
                </a:solidFill>
              </a:rPr>
              <a:t>• Teacher-to-school visibility</a:t>
            </a:r>
            <a:br/>
            <a:r>
              <a:rPr lang="en-US" sz="1150">
                <a:solidFill>
                  <a:srgbClr val="1E293B"/>
                </a:solidFill>
              </a:rPr>
              <a:t>• Performance and observation history</a:t>
            </a:r>
            <a:br/>
            <a:r>
              <a:rPr lang="en-US" sz="1150">
                <a:solidFill>
                  <a:srgbClr val="1E293B"/>
                </a:solidFill>
              </a:rPr>
              <a:t>• Immediate alerts for pending issues</a:t>
            </a:r>
            <a:br/>
            <a:r>
              <a:rPr lang="en-US" sz="1150" b="1">
                <a:solidFill>
                  <a:srgbClr val="228B59"/>
                </a:solidFill>
              </a:rPr>
              <a:t>• Daily attendance for teachers and managers</a:t>
            </a:r>
            <a:br/>
            <a:r>
              <a:rPr lang="en-US" sz="1150" b="1">
                <a:solidFill>
                  <a:srgbClr val="228B59"/>
                </a:solidFill>
              </a:rPr>
              <a:t>• Payroll computed from attendance and approved before payment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1583" y="1417320"/>
            <a:ext cx="3474720" cy="4206240"/>
          </a:xfrm>
          <a:prstGeom prst="roundRect">
            <a:avLst/>
          </a:prstGeom>
          <a:solidFill>
            <a:srgbClr val="F1F5F9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01583" y="1417320"/>
            <a:ext cx="73152" cy="4206240"/>
          </a:xfrm>
          <a:prstGeom prst="rect">
            <a:avLst/>
          </a:prstGeom>
          <a:solidFill>
            <a:srgbClr val="228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02752" y="1581912"/>
            <a:ext cx="3108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B48"/>
                </a:solidFill>
              </a:defRPr>
            </a:pPr>
            <a:r>
              <a:rPr lang="en-US" sz="1500" b="1">
                <a:solidFill>
                  <a:srgbClr val="182B48"/>
                </a:solidFill>
              </a:rPr>
              <a:t>Target Outcome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1984248"/>
            <a:ext cx="3090672" cy="3493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E293B"/>
                </a:solidFill>
              </a:defRPr>
            </a:pPr>
            <a:r>
              <a:rPr lang="en-US" sz="1150">
                <a:solidFill>
                  <a:srgbClr val="1E293B"/>
                </a:solidFill>
              </a:rPr>
              <a:t>• Less chasing people for updates</a:t>
            </a:r>
            <a:br/>
            <a:r>
              <a:rPr lang="en-US" sz="1150">
                <a:solidFill>
                  <a:srgbClr val="1E293B"/>
                </a:solidFill>
              </a:rPr>
              <a:t>• Better accountability</a:t>
            </a:r>
            <a:br/>
            <a:r>
              <a:rPr lang="en-US" sz="1150">
                <a:solidFill>
                  <a:srgbClr val="1E293B"/>
                </a:solidFill>
              </a:rPr>
              <a:t>• Faster follow-up</a:t>
            </a:r>
            <a:br/>
            <a:r>
              <a:rPr lang="en-US" sz="1150">
                <a:solidFill>
                  <a:srgbClr val="1E293B"/>
                </a:solidFill>
              </a:rPr>
              <a:t>• Centralized records</a:t>
            </a:r>
            <a:br/>
            <a:r>
              <a:rPr lang="en-US" sz="1150">
                <a:solidFill>
                  <a:srgbClr val="1E293B"/>
                </a:solidFill>
              </a:rPr>
              <a:t>• Better teacher deployment</a:t>
            </a:r>
            <a:br/>
            <a:r>
              <a:rPr lang="en-US" sz="1150">
                <a:solidFill>
                  <a:srgbClr val="1E293B"/>
                </a:solidFill>
              </a:rPr>
              <a:t>• Faster response to school issues</a:t>
            </a:r>
            <a:br/>
            <a:r>
              <a:rPr lang="en-US" sz="1150">
                <a:solidFill>
                  <a:srgbClr val="1E293B"/>
                </a:solidFill>
              </a:rPr>
              <a:t>• Management can monitor from one dashboard</a:t>
            </a:r>
            <a:br/>
            <a:r>
              <a:rPr lang="en-US" sz="1150" b="1">
                <a:solidFill>
                  <a:srgbClr val="228B59"/>
                </a:solidFill>
              </a:rPr>
              <a:t>• Accurate salary based on actual attendance</a:t>
            </a:r>
            <a:br/>
            <a:r>
              <a:rPr lang="en-US" sz="1150" b="1">
                <a:solidFill>
                  <a:srgbClr val="228B59"/>
                </a:solidFill>
              </a:rPr>
              <a:t>• Leave, LOP and incentives handled in one payroll run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rPr lang="en-US" sz="800">
                <a:solidFill>
                  <a:srgbClr val="64748B"/>
                </a:solidFill>
              </a:rPr>
              <a:t>Operations Management System  |  Director Overview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B48"/>
                </a:solidFill>
              </a:defRPr>
            </a:pPr>
            <a:r>
              <a:rPr lang="en-US" sz="2700" b="1">
                <a:solidFill>
                  <a:srgbClr val="182B48"/>
                </a:solidFill>
              </a:rPr>
              <a:t>What system are we preparing?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rPr lang="en-US" sz="1200">
                <a:solidFill>
                  <a:srgbClr val="64748B"/>
                </a:solidFill>
              </a:rPr>
              <a:t>A single operations platform connecting managers, schools, colleges, candidates and teachers.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71600"/>
            <a:ext cx="2578608" cy="1493520"/>
          </a:xfrm>
          <a:prstGeom prst="roundRect">
            <a:avLst/>
          </a:prstGeom>
          <a:solidFill>
            <a:srgbClr val="F1F5F9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371600"/>
            <a:ext cx="73152" cy="1493520"/>
          </a:xfrm>
          <a:prstGeom prst="rect">
            <a:avLst/>
          </a:prstGeom>
          <a:solidFill>
            <a:srgbClr val="2D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8" y="1536192"/>
            <a:ext cx="221284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B48"/>
                </a:solidFill>
              </a:defRPr>
            </a:pPr>
            <a:r>
              <a:rPr lang="en-US" sz="1500" b="1">
                <a:solidFill>
                  <a:srgbClr val="182B48"/>
                </a:solidFill>
              </a:rPr>
              <a:t>Manager Control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1938528"/>
            <a:ext cx="2194560" cy="835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E293B"/>
                </a:solidFill>
              </a:defRPr>
            </a:pPr>
            <a:r>
              <a:rPr lang="en-US" sz="1150">
                <a:solidFill>
                  <a:srgbClr val="1E293B"/>
                </a:solidFill>
              </a:rPr>
              <a:t>Areas, tasks, schedules, activity tracking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7288" y="1371600"/>
            <a:ext cx="2578608" cy="1493520"/>
          </a:xfrm>
          <a:prstGeom prst="roundRect">
            <a:avLst/>
          </a:prstGeom>
          <a:solidFill>
            <a:srgbClr val="F1F5F9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447288" y="1371600"/>
            <a:ext cx="73152" cy="1493520"/>
          </a:xfrm>
          <a:prstGeom prst="rect">
            <a:avLst/>
          </a:prstGeom>
          <a:solidFill>
            <a:srgbClr val="28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48456" y="1536192"/>
            <a:ext cx="221284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B48"/>
                </a:solidFill>
              </a:defRPr>
            </a:pPr>
            <a:r>
              <a:rPr lang="en-US" sz="1500" b="1">
                <a:solidFill>
                  <a:srgbClr val="182B48"/>
                </a:solidFill>
              </a:rPr>
              <a:t>School CRM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48456" y="1938528"/>
            <a:ext cx="2194560" cy="835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E293B"/>
                </a:solidFill>
              </a:defRPr>
            </a:pPr>
            <a:r>
              <a:rPr lang="en-US" sz="1150">
                <a:solidFill>
                  <a:srgbClr val="1E293B"/>
                </a:solidFill>
              </a:rPr>
              <a:t>Prospects, visits, follow-ups, MoU, active schools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0216" y="1371600"/>
            <a:ext cx="2578608" cy="1493520"/>
          </a:xfrm>
          <a:prstGeom prst="roundRect">
            <a:avLst/>
          </a:prstGeom>
          <a:solidFill>
            <a:srgbClr val="F1F5F9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300216" y="1371600"/>
            <a:ext cx="73152" cy="1493520"/>
          </a:xfrm>
          <a:prstGeom prst="rect">
            <a:avLst/>
          </a:prstGeom>
          <a:solidFill>
            <a:srgbClr val="DC8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01384" y="1536192"/>
            <a:ext cx="221284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B48"/>
                </a:solidFill>
              </a:defRPr>
            </a:pPr>
            <a:r>
              <a:rPr lang="en-US" sz="1500" b="1">
                <a:solidFill>
                  <a:srgbClr val="182B48"/>
                </a:solidFill>
              </a:rPr>
              <a:t>Recruitment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1384" y="1938528"/>
            <a:ext cx="2194560" cy="835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E293B"/>
                </a:solidFill>
              </a:defRPr>
            </a:pPr>
            <a:r>
              <a:rPr lang="en-US" sz="1150">
                <a:solidFill>
                  <a:srgbClr val="1E293B"/>
                </a:solidFill>
              </a:rPr>
              <a:t>Colleges, drives, candidates, assessment, offers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53144" y="1371600"/>
            <a:ext cx="2578608" cy="1493520"/>
          </a:xfrm>
          <a:prstGeom prst="roundRect">
            <a:avLst/>
          </a:prstGeom>
          <a:solidFill>
            <a:srgbClr val="F1F5F9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153144" y="1371600"/>
            <a:ext cx="73152" cy="1493520"/>
          </a:xfrm>
          <a:prstGeom prst="rect">
            <a:avLst/>
          </a:prstGeom>
          <a:solidFill>
            <a:srgbClr val="228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354312" y="1536192"/>
            <a:ext cx="221284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B48"/>
                </a:solidFill>
              </a:defRPr>
            </a:pPr>
            <a:r>
              <a:rPr lang="en-US" sz="1500" b="1">
                <a:solidFill>
                  <a:srgbClr val="182B48"/>
                </a:solidFill>
              </a:rPr>
              <a:t>Training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54312" y="1938528"/>
            <a:ext cx="2194560" cy="835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E293B"/>
                </a:solidFill>
              </a:defRPr>
            </a:pPr>
            <a:r>
              <a:rPr lang="en-US" sz="1150">
                <a:solidFill>
                  <a:srgbClr val="1E293B"/>
                </a:solidFill>
              </a:rPr>
              <a:t>Batches, attendance, completion, readiness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3093720"/>
            <a:ext cx="2578608" cy="1493520"/>
          </a:xfrm>
          <a:prstGeom prst="roundRect">
            <a:avLst/>
          </a:prstGeom>
          <a:solidFill>
            <a:srgbClr val="F1F5F9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94360" y="3093720"/>
            <a:ext cx="73152" cy="1493520"/>
          </a:xfrm>
          <a:prstGeom prst="rect">
            <a:avLst/>
          </a:prstGeom>
          <a:solidFill>
            <a:srgbClr val="2D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95528" y="3258312"/>
            <a:ext cx="221284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B48"/>
                </a:solidFill>
              </a:defRPr>
            </a:pPr>
            <a:r>
              <a:rPr lang="en-US" sz="1500" b="1">
                <a:solidFill>
                  <a:srgbClr val="182B48"/>
                </a:solidFill>
              </a:rPr>
              <a:t>Teacher Operations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8" y="3660648"/>
            <a:ext cx="2194560" cy="835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E293B"/>
                </a:solidFill>
              </a:defRPr>
            </a:pPr>
            <a:r>
              <a:rPr lang="en-US" sz="1150">
                <a:solidFill>
                  <a:srgbClr val="1E293B"/>
                </a:solidFill>
              </a:rPr>
              <a:t>Assignments, substitutions, assignment history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447288" y="3093720"/>
            <a:ext cx="2578608" cy="1493520"/>
          </a:xfrm>
          <a:prstGeom prst="roundRect">
            <a:avLst/>
          </a:prstGeom>
          <a:solidFill>
            <a:srgbClr val="F1F5F9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447288" y="3093720"/>
            <a:ext cx="73152" cy="1493520"/>
          </a:xfrm>
          <a:prstGeom prst="rect">
            <a:avLst/>
          </a:prstGeom>
          <a:solidFill>
            <a:srgbClr val="28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648456" y="3258312"/>
            <a:ext cx="221284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B48"/>
                </a:solidFill>
              </a:defRPr>
            </a:pPr>
            <a:r>
              <a:rPr lang="en-US" sz="1500" b="1">
                <a:solidFill>
                  <a:srgbClr val="182B48"/>
                </a:solidFill>
              </a:rPr>
              <a:t>Performance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48456" y="3660648"/>
            <a:ext cx="2194560" cy="835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E293B"/>
                </a:solidFill>
              </a:defRPr>
            </a:pPr>
            <a:r>
              <a:rPr lang="en-US" sz="1150">
                <a:solidFill>
                  <a:srgbClr val="1E293B"/>
                </a:solidFill>
              </a:rPr>
              <a:t>Observations, Principal feedback, corrective actions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0216" y="3093720"/>
            <a:ext cx="2578608" cy="1493520"/>
          </a:xfrm>
          <a:prstGeom prst="roundRect">
            <a:avLst/>
          </a:prstGeom>
          <a:solidFill>
            <a:srgbClr val="F1F5F9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300216" y="3093720"/>
            <a:ext cx="73152" cy="1493520"/>
          </a:xfrm>
          <a:prstGeom prst="rect">
            <a:avLst/>
          </a:prstGeom>
          <a:solidFill>
            <a:srgbClr val="DC8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01384" y="3258312"/>
            <a:ext cx="221284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B48"/>
                </a:solidFill>
              </a:defRPr>
            </a:pPr>
            <a:r>
              <a:rPr lang="en-US" sz="1500" b="1">
                <a:solidFill>
                  <a:srgbClr val="182B48"/>
                </a:solidFill>
              </a:rPr>
              <a:t>Transfers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01384" y="3660648"/>
            <a:ext cx="2194560" cy="835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E293B"/>
                </a:solidFill>
              </a:defRPr>
            </a:pPr>
            <a:r>
              <a:rPr lang="en-US" sz="1150">
                <a:solidFill>
                  <a:srgbClr val="1E293B"/>
                </a:solidFill>
              </a:rPr>
              <a:t>Teacher movement, replacement, history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53144" y="3093720"/>
            <a:ext cx="2578608" cy="1493520"/>
          </a:xfrm>
          <a:prstGeom prst="roundRect">
            <a:avLst/>
          </a:prstGeom>
          <a:solidFill>
            <a:srgbClr val="F1F5F9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153144" y="3093720"/>
            <a:ext cx="73152" cy="1493520"/>
          </a:xfrm>
          <a:prstGeom prst="rect">
            <a:avLst/>
          </a:prstGeom>
          <a:solidFill>
            <a:srgbClr val="228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354312" y="3258312"/>
            <a:ext cx="221284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B48"/>
                </a:solidFill>
              </a:defRPr>
            </a:pPr>
            <a:r>
              <a:rPr lang="en-US" sz="1500" b="1">
                <a:solidFill>
                  <a:srgbClr val="182B48"/>
                </a:solidFill>
              </a:rPr>
              <a:t>Dashboard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54312" y="3660648"/>
            <a:ext cx="2194560" cy="835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E293B"/>
                </a:solidFill>
              </a:defRPr>
            </a:pPr>
            <a:r>
              <a:rPr lang="en-US" sz="1150">
                <a:solidFill>
                  <a:srgbClr val="1E293B"/>
                </a:solidFill>
              </a:rPr>
              <a:t>Real-time visibility, KPIs, reports, alerts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rPr lang="en-US" sz="800">
                <a:solidFill>
                  <a:srgbClr val="64748B"/>
                </a:solidFill>
              </a:rPr>
              <a:t>Operations Management System  |  Director Overview  |  3</a:t>
            </a:r>
          </a:p>
        </p:txBody>
      </p:sp>
      <p:sp>
        <p:nvSpPr>
          <p:cNvPr id="38" name="Rounded Rectangle 4"/>
          <p:cNvSpPr/>
          <p:nvPr/>
        </p:nvSpPr>
        <p:spPr>
          <a:xfrm>
            <a:off x="594360" y="4815840"/>
            <a:ext cx="2578608" cy="1493520"/>
          </a:xfrm>
          <a:prstGeom prst="roundRect">
            <a:avLst/>
          </a:prstGeom>
          <a:solidFill>
            <a:srgbClr val="F1F5F9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5"/>
          <p:cNvSpPr/>
          <p:nvPr/>
        </p:nvSpPr>
        <p:spPr>
          <a:xfrm>
            <a:off x="594360" y="4815840"/>
            <a:ext cx="73152" cy="1493520"/>
          </a:xfrm>
          <a:prstGeom prst="rect">
            <a:avLst/>
          </a:prstGeom>
          <a:solidFill>
            <a:srgbClr val="2D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6"/>
          <p:cNvSpPr txBox="1"/>
          <p:nvPr/>
        </p:nvSpPr>
        <p:spPr>
          <a:xfrm>
            <a:off x="795528" y="4980432"/>
            <a:ext cx="221284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B48"/>
                </a:solidFill>
              </a:defRPr>
            </a:pPr>
            <a:r>
              <a:rPr lang="en-US" sz="1500" b="1">
                <a:solidFill>
                  <a:srgbClr val="182B48"/>
                </a:solidFill>
              </a:rPr>
              <a:t>Attendance</a:t>
            </a:r>
          </a:p>
        </p:txBody>
      </p:sp>
      <p:sp>
        <p:nvSpPr>
          <p:cNvPr id="41" name="TextBox 7"/>
          <p:cNvSpPr txBox="1"/>
          <p:nvPr/>
        </p:nvSpPr>
        <p:spPr>
          <a:xfrm>
            <a:off x="795528" y="5382768"/>
            <a:ext cx="2194560" cy="835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E293B"/>
                </a:solidFill>
              </a:defRPr>
            </a:pPr>
            <a:r>
              <a:rPr lang="en-US" sz="1150">
                <a:solidFill>
                  <a:srgbClr val="1E293B"/>
                </a:solidFill>
              </a:rPr>
              <a:t>Teachers &amp; managers, leave, absence alerts</a:t>
            </a:r>
          </a:p>
        </p:txBody>
      </p:sp>
      <p:sp>
        <p:nvSpPr>
          <p:cNvPr id="42" name="Rounded Rectangle 4"/>
          <p:cNvSpPr/>
          <p:nvPr/>
        </p:nvSpPr>
        <p:spPr>
          <a:xfrm>
            <a:off x="3447288" y="4815840"/>
            <a:ext cx="2578608" cy="1493520"/>
          </a:xfrm>
          <a:prstGeom prst="roundRect">
            <a:avLst/>
          </a:prstGeom>
          <a:solidFill>
            <a:srgbClr val="F1F5F9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5"/>
          <p:cNvSpPr/>
          <p:nvPr/>
        </p:nvSpPr>
        <p:spPr>
          <a:xfrm>
            <a:off x="3447288" y="4815840"/>
            <a:ext cx="73152" cy="1493520"/>
          </a:xfrm>
          <a:prstGeom prst="rect">
            <a:avLst/>
          </a:prstGeom>
          <a:solidFill>
            <a:srgbClr val="28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6"/>
          <p:cNvSpPr txBox="1"/>
          <p:nvPr/>
        </p:nvSpPr>
        <p:spPr>
          <a:xfrm>
            <a:off x="3648456" y="4980432"/>
            <a:ext cx="221284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B48"/>
                </a:solidFill>
              </a:defRPr>
            </a:pPr>
            <a:r>
              <a:rPr lang="en-US" sz="1500" b="1">
                <a:solidFill>
                  <a:srgbClr val="182B48"/>
                </a:solidFill>
              </a:rPr>
              <a:t>Salary &amp; Payroll</a:t>
            </a:r>
          </a:p>
        </p:txBody>
      </p:sp>
      <p:sp>
        <p:nvSpPr>
          <p:cNvPr id="45" name="TextBox 7"/>
          <p:cNvSpPr txBox="1"/>
          <p:nvPr/>
        </p:nvSpPr>
        <p:spPr>
          <a:xfrm>
            <a:off x="3648456" y="5382768"/>
            <a:ext cx="2194560" cy="835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E293B"/>
                </a:solidFill>
              </a:defRPr>
            </a:pPr>
            <a:r>
              <a:rPr lang="en-US" sz="1150">
                <a:solidFill>
                  <a:srgbClr val="1E293B"/>
                </a:solidFill>
              </a:rPr>
              <a:t>Structures, LOP, incentives, payslips</a:t>
            </a:r>
          </a:p>
        </p:txBody>
      </p:sp>
      <p:sp>
        <p:nvSpPr>
          <p:cNvPr id="46" name="Rounded Rectangle 4"/>
          <p:cNvSpPr/>
          <p:nvPr/>
        </p:nvSpPr>
        <p:spPr>
          <a:xfrm>
            <a:off x="6300216" y="4815840"/>
            <a:ext cx="2578608" cy="1493520"/>
          </a:xfrm>
          <a:prstGeom prst="roundRect">
            <a:avLst/>
          </a:prstGeom>
          <a:solidFill>
            <a:srgbClr val="F1F5F9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5"/>
          <p:cNvSpPr/>
          <p:nvPr/>
        </p:nvSpPr>
        <p:spPr>
          <a:xfrm>
            <a:off x="6300216" y="4815840"/>
            <a:ext cx="73152" cy="1493520"/>
          </a:xfrm>
          <a:prstGeom prst="rect">
            <a:avLst/>
          </a:prstGeom>
          <a:solidFill>
            <a:srgbClr val="DC8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6"/>
          <p:cNvSpPr txBox="1"/>
          <p:nvPr/>
        </p:nvSpPr>
        <p:spPr>
          <a:xfrm>
            <a:off x="6501384" y="4980432"/>
            <a:ext cx="221284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B48"/>
                </a:solidFill>
              </a:defRPr>
            </a:pPr>
            <a:r>
              <a:rPr lang="en-US" sz="1500" b="1">
                <a:solidFill>
                  <a:srgbClr val="182B48"/>
                </a:solidFill>
              </a:rPr>
              <a:t>Office Expenses</a:t>
            </a:r>
          </a:p>
        </p:txBody>
      </p:sp>
      <p:sp>
        <p:nvSpPr>
          <p:cNvPr id="49" name="TextBox 7"/>
          <p:cNvSpPr txBox="1"/>
          <p:nvPr/>
        </p:nvSpPr>
        <p:spPr>
          <a:xfrm>
            <a:off x="6501384" y="5382768"/>
            <a:ext cx="2194560" cy="835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E293B"/>
                </a:solidFill>
              </a:defRPr>
            </a:pPr>
            <a:r>
              <a:rPr lang="en-US" sz="1150">
                <a:solidFill>
                  <a:srgbClr val="1E293B"/>
                </a:solidFill>
              </a:rPr>
              <a:t>Bills, approvals, budget vs actual</a:t>
            </a:r>
          </a:p>
        </p:txBody>
      </p:sp>
      <p:sp>
        <p:nvSpPr>
          <p:cNvPr id="50" name="Rounded Rectangle 4"/>
          <p:cNvSpPr/>
          <p:nvPr/>
        </p:nvSpPr>
        <p:spPr>
          <a:xfrm>
            <a:off x="9153144" y="4815840"/>
            <a:ext cx="2578608" cy="1493520"/>
          </a:xfrm>
          <a:prstGeom prst="roundRect">
            <a:avLst/>
          </a:prstGeom>
          <a:solidFill>
            <a:srgbClr val="F1F5F9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"/>
          <p:cNvSpPr/>
          <p:nvPr/>
        </p:nvSpPr>
        <p:spPr>
          <a:xfrm>
            <a:off x="9153144" y="4815840"/>
            <a:ext cx="73152" cy="1493520"/>
          </a:xfrm>
          <a:prstGeom prst="rect">
            <a:avLst/>
          </a:prstGeom>
          <a:solidFill>
            <a:srgbClr val="228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6"/>
          <p:cNvSpPr txBox="1"/>
          <p:nvPr/>
        </p:nvSpPr>
        <p:spPr>
          <a:xfrm>
            <a:off x="9354312" y="4980432"/>
            <a:ext cx="221284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B48"/>
                </a:solidFill>
              </a:defRPr>
            </a:pPr>
            <a:r>
              <a:rPr lang="en-US" sz="1500" b="1">
                <a:solidFill>
                  <a:srgbClr val="182B48"/>
                </a:solidFill>
              </a:rPr>
              <a:t>School Receivables</a:t>
            </a:r>
          </a:p>
        </p:txBody>
      </p:sp>
      <p:sp>
        <p:nvSpPr>
          <p:cNvPr id="53" name="TextBox 7"/>
          <p:cNvSpPr txBox="1"/>
          <p:nvPr/>
        </p:nvSpPr>
        <p:spPr>
          <a:xfrm>
            <a:off x="9354312" y="5382768"/>
            <a:ext cx="2194560" cy="835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E293B"/>
                </a:solidFill>
              </a:defRPr>
            </a:pPr>
            <a:r>
              <a:rPr lang="en-US" sz="1150">
                <a:solidFill>
                  <a:srgbClr val="1E293B"/>
                </a:solidFill>
              </a:rPr>
              <a:t>Invoices, collections, ageing, follow-ups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B48"/>
                </a:solidFill>
              </a:defRPr>
            </a:pPr>
            <a:r>
              <a:rPr lang="en-US" sz="2700" b="1">
                <a:solidFill>
                  <a:srgbClr val="182B48"/>
                </a:solidFill>
              </a:rPr>
              <a:t>End-to-end business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rPr lang="en-US" sz="1200">
                <a:solidFill>
                  <a:srgbClr val="64748B"/>
                </a:solidFill>
              </a:rPr>
              <a:t>The system follows the actual operating lifecycle discussed with the team.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2057400"/>
            <a:ext cx="1234440" cy="1143000"/>
          </a:xfrm>
          <a:prstGeom prst="roundRect">
            <a:avLst/>
          </a:prstGeom>
          <a:solidFill>
            <a:srgbClr val="18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84632" y="2267712"/>
            <a:ext cx="1088136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lang="en-US" sz="1100" b="1">
                <a:solidFill>
                  <a:srgbClr val="FFFFFF"/>
                </a:solidFill>
              </a:rPr>
              <a:t>Area &amp; Manager</a:t>
            </a:r>
            <a:br/>
            <a:r>
              <a:rPr lang="en-US" sz="1100" b="1">
                <a:solidFill>
                  <a:srgbClr val="FFFFFF"/>
                </a:solidFill>
              </a:rPr>
              <a:t>Assignment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655064" y="2624328"/>
            <a:ext cx="192024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856232" y="2057400"/>
            <a:ext cx="1234440" cy="1143000"/>
          </a:xfrm>
          <a:prstGeom prst="roundRect">
            <a:avLst/>
          </a:prstGeom>
          <a:solidFill>
            <a:srgbClr val="2D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929384" y="2267712"/>
            <a:ext cx="1088136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lang="en-US" sz="1100" b="1">
                <a:solidFill>
                  <a:srgbClr val="FFFFFF"/>
                </a:solidFill>
              </a:rPr>
              <a:t>School</a:t>
            </a:r>
            <a:br/>
            <a:r>
              <a:rPr lang="en-US" sz="1100" b="1">
                <a:solidFill>
                  <a:srgbClr val="FFFFFF"/>
                </a:solidFill>
              </a:rPr>
              <a:t>Acquisition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099816" y="2624328"/>
            <a:ext cx="192024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300984" y="2057400"/>
            <a:ext cx="1234440" cy="1143000"/>
          </a:xfrm>
          <a:prstGeom prst="roundRect">
            <a:avLst/>
          </a:prstGeom>
          <a:solidFill>
            <a:srgbClr val="28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74136" y="2267712"/>
            <a:ext cx="1088136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lang="en-US" sz="1100" b="1">
                <a:solidFill>
                  <a:srgbClr val="FFFFFF"/>
                </a:solidFill>
              </a:rPr>
              <a:t>College</a:t>
            </a:r>
            <a:br/>
            <a:r>
              <a:rPr lang="en-US" sz="1100" b="1">
                <a:solidFill>
                  <a:srgbClr val="FFFFFF"/>
                </a:solidFill>
              </a:rPr>
              <a:t>Recruitment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544568" y="2624328"/>
            <a:ext cx="192024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745736" y="2057400"/>
            <a:ext cx="1234440" cy="1143000"/>
          </a:xfrm>
          <a:prstGeom prst="roundRect">
            <a:avLst/>
          </a:prstGeom>
          <a:solidFill>
            <a:srgbClr val="DC8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18888" y="2267712"/>
            <a:ext cx="1088136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lang="en-US" sz="1100" b="1">
                <a:solidFill>
                  <a:srgbClr val="FFFFFF"/>
                </a:solidFill>
              </a:rPr>
              <a:t>Candidate</a:t>
            </a:r>
            <a:br/>
            <a:r>
              <a:rPr lang="en-US" sz="1100" b="1">
                <a:solidFill>
                  <a:srgbClr val="FFFFFF"/>
                </a:solidFill>
              </a:rPr>
              <a:t>Selection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89320" y="2624328"/>
            <a:ext cx="192024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190488" y="2057400"/>
            <a:ext cx="1234440" cy="1143000"/>
          </a:xfrm>
          <a:prstGeom prst="roundRect">
            <a:avLst/>
          </a:prstGeom>
          <a:solidFill>
            <a:srgbClr val="28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63640" y="2267712"/>
            <a:ext cx="1088136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lang="en-US" sz="1100" b="1">
                <a:solidFill>
                  <a:srgbClr val="FFFFFF"/>
                </a:solidFill>
              </a:rPr>
              <a:t>Offer &amp;</a:t>
            </a:r>
            <a:br/>
            <a:r>
              <a:rPr lang="en-US" sz="1100" b="1">
                <a:solidFill>
                  <a:srgbClr val="FFFFFF"/>
                </a:solidFill>
              </a:rPr>
              <a:t>Training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434072" y="2624328"/>
            <a:ext cx="192024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635240" y="2057400"/>
            <a:ext cx="1234440" cy="1143000"/>
          </a:xfrm>
          <a:prstGeom prst="roundRect">
            <a:avLst/>
          </a:prstGeom>
          <a:solidFill>
            <a:srgbClr val="2D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08392" y="2267712"/>
            <a:ext cx="1088136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lang="en-US" sz="1100" b="1">
                <a:solidFill>
                  <a:srgbClr val="FFFFFF"/>
                </a:solidFill>
              </a:rPr>
              <a:t>Teacher →</a:t>
            </a:r>
            <a:br/>
            <a:r>
              <a:rPr lang="en-US" sz="1100" b="1">
                <a:solidFill>
                  <a:srgbClr val="FFFFFF"/>
                </a:solidFill>
              </a:rPr>
              <a:t>School Allocation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878824" y="2624328"/>
            <a:ext cx="192024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079992" y="2057400"/>
            <a:ext cx="1234440" cy="1143000"/>
          </a:xfrm>
          <a:prstGeom prst="roundRect">
            <a:avLst/>
          </a:prstGeom>
          <a:solidFill>
            <a:srgbClr val="228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53144" y="2267712"/>
            <a:ext cx="1088136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lang="en-US" sz="1100" b="1">
                <a:solidFill>
                  <a:srgbClr val="FFFFFF"/>
                </a:solidFill>
              </a:rPr>
              <a:t>Monitoring &amp;</a:t>
            </a:r>
            <a:br/>
            <a:r>
              <a:rPr lang="en-US" sz="1100" b="1">
                <a:solidFill>
                  <a:srgbClr val="FFFFFF"/>
                </a:solidFill>
              </a:rPr>
              <a:t>Feedback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0323576" y="2624328"/>
            <a:ext cx="192024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0524744" y="2057400"/>
            <a:ext cx="1234440" cy="1143000"/>
          </a:xfrm>
          <a:prstGeom prst="roundRect">
            <a:avLst/>
          </a:prstGeom>
          <a:solidFill>
            <a:srgbClr val="BE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597896" y="2267712"/>
            <a:ext cx="1088136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lang="en-US" sz="1100" b="1">
                <a:solidFill>
                  <a:srgbClr val="FFFFFF"/>
                </a:solidFill>
              </a:rPr>
              <a:t>Correction /</a:t>
            </a:r>
            <a:br/>
            <a:r>
              <a:rPr lang="en-US" sz="1100" b="1">
                <a:solidFill>
                  <a:srgbClr val="FFFFFF"/>
                </a:solidFill>
              </a:rPr>
              <a:t>Transfer /</a:t>
            </a:r>
            <a:br/>
            <a:r>
              <a:rPr lang="en-US" sz="1100" b="1">
                <a:solidFill>
                  <a:srgbClr val="FFFFFF"/>
                </a:solidFill>
              </a:rPr>
              <a:t>Replacement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617720"/>
            <a:ext cx="10241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rPr lang="en-US" sz="1600">
                <a:solidFill>
                  <a:srgbClr val="1E293B"/>
                </a:solidFill>
              </a:rPr>
              <a:t>• Every stage has an owner, status, date, output and history.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rPr lang="en-US" sz="1600">
                <a:solidFill>
                  <a:srgbClr val="1E293B"/>
                </a:solidFill>
              </a:rPr>
              <a:t>• Management can see the current position — and its cost and collections — without waiting for batch reports.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rPr lang="en-US" sz="800">
                <a:solidFill>
                  <a:srgbClr val="64748B"/>
                </a:solidFill>
              </a:rPr>
              <a:t>Operations Management System  |  Director Overview  |  4</a:t>
            </a:r>
          </a:p>
        </p:txBody>
      </p:sp>
      <p:sp>
        <p:nvSpPr>
          <p:cNvPr id="30" name="TextBox 3"/>
          <p:cNvSpPr txBox="1"/>
          <p:nvPr/>
        </p:nvSpPr>
        <p:spPr>
          <a:xfrm>
            <a:off x="411480" y="3310128"/>
            <a:ext cx="11338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rPr lang="en-US" sz="1200">
                <a:solidFill>
                  <a:srgbClr val="64748B"/>
                </a:solidFill>
              </a:rPr>
              <a:t>Running alongside every stage:</a:t>
            </a:r>
          </a:p>
        </p:txBody>
      </p:sp>
      <p:sp>
        <p:nvSpPr>
          <p:cNvPr id="31" name="Rounded Rectangle 4"/>
          <p:cNvSpPr/>
          <p:nvPr/>
        </p:nvSpPr>
        <p:spPr>
          <a:xfrm>
            <a:off x="411480" y="3675887"/>
            <a:ext cx="2697480" cy="658368"/>
          </a:xfrm>
          <a:prstGeom prst="roundRect">
            <a:avLst/>
          </a:prstGeom>
          <a:solidFill>
            <a:srgbClr val="18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5"/>
          <p:cNvSpPr txBox="1"/>
          <p:nvPr/>
        </p:nvSpPr>
        <p:spPr>
          <a:xfrm>
            <a:off x="466344" y="3730752"/>
            <a:ext cx="2587752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lang="en-US" sz="1100" b="1">
                <a:solidFill>
                  <a:srgbClr val="FFFFFF"/>
                </a:solidFill>
              </a:rPr>
              <a:t>Attendance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lang="en-US" sz="1100" b="1">
                <a:solidFill>
                  <a:srgbClr val="FFFFFF"/>
                </a:solidFill>
              </a:rPr>
              <a:t>(Teachers &amp; Managers)</a:t>
            </a:r>
          </a:p>
        </p:txBody>
      </p:sp>
      <p:sp>
        <p:nvSpPr>
          <p:cNvPr id="33" name="Rounded Rectangle 4"/>
          <p:cNvSpPr/>
          <p:nvPr/>
        </p:nvSpPr>
        <p:spPr>
          <a:xfrm>
            <a:off x="3300984" y="3675887"/>
            <a:ext cx="2697480" cy="658368"/>
          </a:xfrm>
          <a:prstGeom prst="roundRect">
            <a:avLst/>
          </a:prstGeom>
          <a:solidFill>
            <a:srgbClr val="2D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5"/>
          <p:cNvSpPr txBox="1"/>
          <p:nvPr/>
        </p:nvSpPr>
        <p:spPr>
          <a:xfrm>
            <a:off x="3355848" y="3730752"/>
            <a:ext cx="2587752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lang="en-US" sz="1100" b="1">
                <a:solidFill>
                  <a:srgbClr val="FFFFFF"/>
                </a:solidFill>
              </a:rPr>
              <a:t>Salary &amp;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lang="en-US" sz="1100" b="1">
                <a:solidFill>
                  <a:srgbClr val="FFFFFF"/>
                </a:solidFill>
              </a:rPr>
              <a:t>Payroll</a:t>
            </a:r>
          </a:p>
        </p:txBody>
      </p:sp>
      <p:sp>
        <p:nvSpPr>
          <p:cNvPr id="35" name="Rounded Rectangle 4"/>
          <p:cNvSpPr/>
          <p:nvPr/>
        </p:nvSpPr>
        <p:spPr>
          <a:xfrm>
            <a:off x="6190488" y="3675887"/>
            <a:ext cx="2697480" cy="658368"/>
          </a:xfrm>
          <a:prstGeom prst="roundRect">
            <a:avLst/>
          </a:prstGeom>
          <a:solidFill>
            <a:srgbClr val="28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5"/>
          <p:cNvSpPr txBox="1"/>
          <p:nvPr/>
        </p:nvSpPr>
        <p:spPr>
          <a:xfrm>
            <a:off x="6245352" y="3730752"/>
            <a:ext cx="2587752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lang="en-US" sz="1100" b="1">
                <a:solidFill>
                  <a:srgbClr val="FFFFFF"/>
                </a:solidFill>
              </a:rPr>
              <a:t>Office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lang="en-US" sz="1100" b="1">
                <a:solidFill>
                  <a:srgbClr val="FFFFFF"/>
                </a:solidFill>
              </a:rPr>
              <a:t>Expenses</a:t>
            </a:r>
          </a:p>
        </p:txBody>
      </p:sp>
      <p:sp>
        <p:nvSpPr>
          <p:cNvPr id="37" name="Rounded Rectangle 4"/>
          <p:cNvSpPr/>
          <p:nvPr/>
        </p:nvSpPr>
        <p:spPr>
          <a:xfrm>
            <a:off x="9079992" y="3675887"/>
            <a:ext cx="2697480" cy="658368"/>
          </a:xfrm>
          <a:prstGeom prst="roundRect">
            <a:avLst/>
          </a:prstGeom>
          <a:solidFill>
            <a:srgbClr val="228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5"/>
          <p:cNvSpPr txBox="1"/>
          <p:nvPr/>
        </p:nvSpPr>
        <p:spPr>
          <a:xfrm>
            <a:off x="9134856" y="3730752"/>
            <a:ext cx="2587752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lang="en-US" sz="1100" b="1">
                <a:solidFill>
                  <a:srgbClr val="FFFFFF"/>
                </a:solidFill>
              </a:rPr>
              <a:t>School Payments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lang="en-US" sz="1100" b="1">
                <a:solidFill>
                  <a:srgbClr val="FFFFFF"/>
                </a:solidFill>
              </a:rPr>
              <a:t>(Receivables)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B48"/>
                </a:solidFill>
              </a:defRPr>
            </a:pPr>
            <a:r>
              <a:rPr lang="en-US" sz="2700" b="1">
                <a:solidFill>
                  <a:srgbClr val="182B48"/>
                </a:solidFill>
              </a:rPr>
              <a:t>School Acquisition &amp; Marketing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rPr lang="en-US" sz="1200">
                <a:solidFill>
                  <a:srgbClr val="64748B"/>
                </a:solidFill>
              </a:rPr>
              <a:t>Managers own their assigned territories; the system makes the activity visible.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4937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rPr lang="en-US" sz="1600">
                <a:solidFill>
                  <a:srgbClr val="1E293B"/>
                </a:solidFill>
              </a:rPr>
              <a:t>• Identify target schools in assigned area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rPr lang="en-US" sz="1600">
                <a:solidFill>
                  <a:srgbClr val="1E293B"/>
                </a:solidFill>
              </a:rPr>
              <a:t>• Create school prospect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rPr lang="en-US" sz="1600">
                <a:solidFill>
                  <a:srgbClr val="1E293B"/>
                </a:solidFill>
              </a:rPr>
              <a:t>• Plan visit with date/time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rPr lang="en-US" sz="1600">
                <a:solidFill>
                  <a:srgbClr val="1E293B"/>
                </a:solidFill>
              </a:rPr>
              <a:t>• Record visit, people met and discussion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rPr lang="en-US" sz="1600">
                <a:solidFill>
                  <a:srgbClr val="1E293B"/>
                </a:solidFill>
              </a:rPr>
              <a:t>• Schedule follow-up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rPr lang="en-US" sz="1600">
                <a:solidFill>
                  <a:srgbClr val="1E293B"/>
                </a:solidFill>
              </a:rPr>
              <a:t>• Move opportunity through pipeline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rPr lang="en-US" sz="1600">
                <a:solidFill>
                  <a:srgbClr val="1E293B"/>
                </a:solidFill>
              </a:rPr>
              <a:t>• Track final stage and MoU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rPr lang="en-US" sz="1600">
                <a:solidFill>
                  <a:srgbClr val="1E293B"/>
                </a:solidFill>
              </a:rPr>
              <a:t>• Convert confirmed school into an active school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89320" y="1554480"/>
            <a:ext cx="1508760" cy="658368"/>
          </a:xfrm>
          <a:prstGeom prst="roundRect">
            <a:avLst/>
          </a:prstGeom>
          <a:solidFill>
            <a:srgbClr val="F1F5F9"/>
          </a:solidFill>
          <a:ln>
            <a:solidFill>
              <a:srgbClr val="2D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62472" y="171907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82B48"/>
                </a:solidFill>
              </a:defRPr>
            </a:pPr>
            <a:r>
              <a:rPr lang="en-US" sz="1100" b="1">
                <a:solidFill>
                  <a:srgbClr val="182B48"/>
                </a:solidFill>
              </a:rPr>
              <a:t>Prospect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554480"/>
            <a:ext cx="1508760" cy="658368"/>
          </a:xfrm>
          <a:prstGeom prst="roundRect">
            <a:avLst/>
          </a:prstGeom>
          <a:solidFill>
            <a:srgbClr val="F1F5F9"/>
          </a:solidFill>
          <a:ln>
            <a:solidFill>
              <a:srgbClr val="2D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36992" y="171907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82B48"/>
                </a:solidFill>
              </a:defRPr>
            </a:pPr>
            <a:r>
              <a:rPr lang="en-US" sz="1100" b="1">
                <a:solidFill>
                  <a:srgbClr val="182B48"/>
                </a:solidFill>
              </a:rPr>
              <a:t>Contacted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738359" y="1554480"/>
            <a:ext cx="1508760" cy="658368"/>
          </a:xfrm>
          <a:prstGeom prst="roundRect">
            <a:avLst/>
          </a:prstGeom>
          <a:solidFill>
            <a:srgbClr val="F1F5F9"/>
          </a:solidFill>
          <a:ln>
            <a:solidFill>
              <a:srgbClr val="2D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811511" y="171907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82B48"/>
                </a:solidFill>
              </a:defRPr>
            </a:pPr>
            <a:r>
              <a:rPr lang="en-US" sz="1100" b="1">
                <a:solidFill>
                  <a:srgbClr val="182B48"/>
                </a:solidFill>
              </a:rPr>
              <a:t>Visit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2880360"/>
            <a:ext cx="1508760" cy="658368"/>
          </a:xfrm>
          <a:prstGeom prst="roundRect">
            <a:avLst/>
          </a:prstGeom>
          <a:solidFill>
            <a:srgbClr val="F1F5F9"/>
          </a:solidFill>
          <a:ln>
            <a:solidFill>
              <a:srgbClr val="2D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062472" y="304495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82B48"/>
                </a:solidFill>
              </a:defRPr>
            </a:pPr>
            <a:r>
              <a:rPr lang="en-US" sz="1100" b="1">
                <a:solidFill>
                  <a:srgbClr val="182B48"/>
                </a:solidFill>
              </a:rPr>
              <a:t>Follow-up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2880360"/>
            <a:ext cx="1508760" cy="658368"/>
          </a:xfrm>
          <a:prstGeom prst="roundRect">
            <a:avLst/>
          </a:prstGeom>
          <a:solidFill>
            <a:srgbClr val="F1F5F9"/>
          </a:solidFill>
          <a:ln>
            <a:solidFill>
              <a:srgbClr val="2D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936992" y="304495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82B48"/>
                </a:solidFill>
              </a:defRPr>
            </a:pPr>
            <a:r>
              <a:rPr lang="en-US" sz="1100" b="1">
                <a:solidFill>
                  <a:srgbClr val="182B48"/>
                </a:solidFill>
              </a:rPr>
              <a:t>Interested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738359" y="2880360"/>
            <a:ext cx="1508760" cy="658368"/>
          </a:xfrm>
          <a:prstGeom prst="roundRect">
            <a:avLst/>
          </a:prstGeom>
          <a:solidFill>
            <a:srgbClr val="F1F5F9"/>
          </a:solidFill>
          <a:ln>
            <a:solidFill>
              <a:srgbClr val="2D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811511" y="304495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82B48"/>
                </a:solidFill>
              </a:defRPr>
            </a:pPr>
            <a:r>
              <a:rPr lang="en-US" sz="1100" b="1">
                <a:solidFill>
                  <a:srgbClr val="182B48"/>
                </a:solidFill>
              </a:rPr>
              <a:t>Negotiation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89320" y="4206240"/>
            <a:ext cx="1508760" cy="658368"/>
          </a:xfrm>
          <a:prstGeom prst="roundRect">
            <a:avLst/>
          </a:prstGeom>
          <a:solidFill>
            <a:srgbClr val="F1F5F9"/>
          </a:solidFill>
          <a:ln>
            <a:solidFill>
              <a:srgbClr val="2D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062472" y="4370831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82B48"/>
                </a:solidFill>
              </a:defRPr>
            </a:pPr>
            <a:r>
              <a:rPr lang="en-US" sz="1100" b="1">
                <a:solidFill>
                  <a:srgbClr val="182B48"/>
                </a:solidFill>
              </a:rPr>
              <a:t>Final Stage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63840" y="4206240"/>
            <a:ext cx="1508760" cy="658368"/>
          </a:xfrm>
          <a:prstGeom prst="roundRect">
            <a:avLst/>
          </a:prstGeom>
          <a:solidFill>
            <a:srgbClr val="F1F5F9"/>
          </a:solidFill>
          <a:ln>
            <a:solidFill>
              <a:srgbClr val="2D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936992" y="4370831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82B48"/>
                </a:solidFill>
              </a:defRPr>
            </a:pPr>
            <a:r>
              <a:rPr lang="en-US" sz="1100" b="1">
                <a:solidFill>
                  <a:srgbClr val="182B48"/>
                </a:solidFill>
              </a:rPr>
              <a:t>MoU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38359" y="4206240"/>
            <a:ext cx="1508760" cy="658368"/>
          </a:xfrm>
          <a:prstGeom prst="roundRect">
            <a:avLst/>
          </a:prstGeom>
          <a:solidFill>
            <a:srgbClr val="F1F5F9"/>
          </a:solidFill>
          <a:ln>
            <a:solidFill>
              <a:srgbClr val="2D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811511" y="4370831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82B48"/>
                </a:solidFill>
              </a:defRPr>
            </a:pPr>
            <a:r>
              <a:rPr lang="en-US" sz="1100" b="1">
                <a:solidFill>
                  <a:srgbClr val="182B48"/>
                </a:solidFill>
              </a:rPr>
              <a:t>Active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89320" y="5532120"/>
            <a:ext cx="5394960" cy="594360"/>
          </a:xfrm>
          <a:prstGeom prst="roundRect">
            <a:avLst/>
          </a:prstGeom>
          <a:solidFill>
            <a:srgbClr val="F1F5F9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989320" y="5532120"/>
            <a:ext cx="73152" cy="594360"/>
          </a:xfrm>
          <a:prstGeom prst="rect">
            <a:avLst/>
          </a:prstGeom>
          <a:solidFill>
            <a:srgbClr val="DC8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190488" y="5696712"/>
            <a:ext cx="5029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B48"/>
                </a:solidFill>
              </a:defRPr>
            </a:pPr>
            <a:r>
              <a:rPr lang="en-US" sz="1500" b="1">
                <a:solidFill>
                  <a:srgbClr val="182B48"/>
                </a:solidFill>
              </a:rPr>
              <a:t>Incentive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90488" y="6099048"/>
            <a:ext cx="5010912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E293B"/>
                </a:solidFill>
              </a:defRPr>
            </a:pPr>
            <a:r>
              <a:rPr lang="en-US" sz="1150">
                <a:solidFill>
                  <a:srgbClr val="1E293B"/>
                </a:solidFill>
              </a:rPr>
              <a:t>₹5,000 incentive is linked to each confirmed/closed school.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rPr lang="en-US" sz="800">
                <a:solidFill>
                  <a:srgbClr val="64748B"/>
                </a:solidFill>
              </a:rPr>
              <a:t>Operations Management System  |  Director Overview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B48"/>
                </a:solidFill>
              </a:defRPr>
            </a:pPr>
            <a:r>
              <a:rPr lang="en-US" sz="2700" b="1">
                <a:solidFill>
                  <a:srgbClr val="182B48"/>
                </a:solidFill>
              </a:rPr>
              <a:t>Recruitment → Training → Teacher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rPr lang="en-US" sz="1200">
                <a:solidFill>
                  <a:srgbClr val="64748B"/>
                </a:solidFill>
              </a:rPr>
              <a:t>The system tracks the complete candidate conversion funnel.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80076" y="1325880"/>
            <a:ext cx="1828800" cy="438912"/>
          </a:xfrm>
          <a:prstGeom prst="roundRect">
            <a:avLst/>
          </a:prstGeom>
          <a:solidFill>
            <a:srgbClr val="18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184611" y="1399032"/>
            <a:ext cx="1819730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FFFFFF"/>
                </a:solidFill>
              </a:defRPr>
            </a:pPr>
            <a:r>
              <a:rPr lang="en-US" sz="1050" dirty="0">
                <a:solidFill>
                  <a:srgbClr val="FFFFFF"/>
                </a:solidFill>
              </a:rPr>
              <a:t>College  —  Recruitment date </a:t>
            </a:r>
          </a:p>
          <a:p>
            <a:pPr algn="ctr">
              <a:defRPr sz="1050">
                <a:solidFill>
                  <a:srgbClr val="FFFFFF"/>
                </a:solidFill>
              </a:defRPr>
            </a:pPr>
            <a:r>
              <a:rPr lang="en-US" sz="1050" dirty="0">
                <a:solidFill>
                  <a:srgbClr val="FFFFFF"/>
                </a:solidFill>
              </a:rPr>
              <a:t>&amp; candidate list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68596" y="1892807"/>
            <a:ext cx="2651760" cy="438912"/>
          </a:xfrm>
          <a:prstGeom prst="roundRect">
            <a:avLst/>
          </a:prstGeom>
          <a:solidFill>
            <a:srgbClr val="2D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4311" y="1965960"/>
            <a:ext cx="2140330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FFFFFF"/>
                </a:solidFill>
              </a:defRPr>
            </a:pPr>
            <a:r>
              <a:rPr lang="en-US" sz="1050" dirty="0">
                <a:solidFill>
                  <a:srgbClr val="FFFFFF"/>
                </a:solidFill>
              </a:rPr>
              <a:t>Assessment  —  </a:t>
            </a:r>
          </a:p>
          <a:p>
            <a:pPr algn="ctr">
              <a:defRPr sz="1050">
                <a:solidFill>
                  <a:srgbClr val="FFFFFF"/>
                </a:solidFill>
              </a:defRPr>
            </a:pPr>
            <a:r>
              <a:rPr lang="en-US" sz="1050" dirty="0">
                <a:solidFill>
                  <a:srgbClr val="FFFFFF"/>
                </a:solidFill>
              </a:rPr>
              <a:t>Group speaking / English evaluation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57116" y="2459736"/>
            <a:ext cx="3474720" cy="438912"/>
          </a:xfrm>
          <a:prstGeom prst="roundRect">
            <a:avLst/>
          </a:prstGeom>
          <a:solidFill>
            <a:srgbClr val="28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66844" y="2532888"/>
            <a:ext cx="3255263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FFFFFF"/>
                </a:solidFill>
              </a:defRPr>
            </a:pPr>
            <a:r>
              <a:rPr lang="en-US" sz="1050" dirty="0">
                <a:solidFill>
                  <a:srgbClr val="FFFFFF"/>
                </a:solidFill>
              </a:rPr>
              <a:t>Selection  —  Qualified / Not Qualified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45635" y="3026663"/>
            <a:ext cx="4297680" cy="438912"/>
          </a:xfrm>
          <a:prstGeom prst="roundRect">
            <a:avLst/>
          </a:prstGeom>
          <a:solidFill>
            <a:srgbClr val="DC8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055363" y="3099815"/>
            <a:ext cx="4078224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FFFFFF"/>
                </a:solidFill>
              </a:defRPr>
            </a:pPr>
            <a:r>
              <a:rPr lang="en-US" sz="1050">
                <a:solidFill>
                  <a:srgbClr val="FFFFFF"/>
                </a:solidFill>
              </a:rPr>
              <a:t>Offer  —  Trainee / English Trainer + salary details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34156" y="3593591"/>
            <a:ext cx="5120640" cy="438912"/>
          </a:xfrm>
          <a:prstGeom prst="roundRect">
            <a:avLst/>
          </a:prstGeom>
          <a:solidFill>
            <a:srgbClr val="28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43884" y="3666744"/>
            <a:ext cx="4901183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FFFFFF"/>
                </a:solidFill>
              </a:defRPr>
            </a:pPr>
            <a:r>
              <a:rPr lang="en-US" sz="1050">
                <a:solidFill>
                  <a:srgbClr val="FFFFFF"/>
                </a:solidFill>
              </a:rPr>
              <a:t>Training  —  Approx. one-month training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22676" y="4160520"/>
            <a:ext cx="5943600" cy="438912"/>
          </a:xfrm>
          <a:prstGeom prst="roundRect">
            <a:avLst/>
          </a:prstGeom>
          <a:solidFill>
            <a:srgbClr val="2D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32404" y="4233672"/>
            <a:ext cx="5724144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FFFFFF"/>
                </a:solidFill>
              </a:defRPr>
            </a:pPr>
            <a:r>
              <a:rPr lang="en-US" sz="1050">
                <a:solidFill>
                  <a:srgbClr val="FFFFFF"/>
                </a:solidFill>
              </a:rPr>
              <a:t>Ready  —  Training completed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11196" y="4727448"/>
            <a:ext cx="6766560" cy="438912"/>
          </a:xfrm>
          <a:prstGeom prst="roundRect">
            <a:avLst/>
          </a:prstGeom>
          <a:solidFill>
            <a:srgbClr val="228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820924" y="4800600"/>
            <a:ext cx="6547104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FFFFFF"/>
                </a:solidFill>
              </a:defRPr>
            </a:pPr>
            <a:r>
              <a:rPr lang="en-US" sz="1050">
                <a:solidFill>
                  <a:srgbClr val="FFFFFF"/>
                </a:solidFill>
              </a:rPr>
              <a:t>School Join  —  Teacher reports to assigned school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299715" y="5294376"/>
            <a:ext cx="7589520" cy="438912"/>
          </a:xfrm>
          <a:prstGeom prst="roundRect">
            <a:avLst/>
          </a:prstGeom>
          <a:solidFill>
            <a:srgbClr val="228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409444" y="5367528"/>
            <a:ext cx="7370064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FFFFFF"/>
                </a:solidFill>
              </a:defRPr>
            </a:pPr>
            <a:r>
              <a:rPr lang="en-US" sz="1050">
                <a:solidFill>
                  <a:srgbClr val="FFFFFF"/>
                </a:solidFill>
              </a:rPr>
              <a:t>Active  —  Teacher works and is monitored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rPr lang="en-US" sz="800">
                <a:solidFill>
                  <a:srgbClr val="64748B"/>
                </a:solidFill>
              </a:rPr>
              <a:t>Operations Management System  |  Director Overview  |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B48"/>
                </a:solidFill>
              </a:defRPr>
            </a:pPr>
            <a:r>
              <a:rPr lang="en-US" sz="2700" b="1">
                <a:solidFill>
                  <a:srgbClr val="182B48"/>
                </a:solidFill>
              </a:rPr>
              <a:t>Teacher Operations &amp; Performance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rPr lang="en-US" sz="1200">
                <a:solidFill>
                  <a:srgbClr val="64748B"/>
                </a:solidFill>
              </a:rPr>
              <a:t>The system continues after deployment — it manages the teacher throughout the school lifecycle.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3429000" cy="4297680"/>
          </a:xfrm>
          <a:prstGeom prst="roundRect">
            <a:avLst/>
          </a:prstGeom>
          <a:solidFill>
            <a:srgbClr val="F1F5F9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73152" cy="4297680"/>
          </a:xfrm>
          <a:prstGeom prst="rect">
            <a:avLst/>
          </a:prstGeom>
          <a:solidFill>
            <a:srgbClr val="2D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1536192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B48"/>
                </a:solidFill>
              </a:defRPr>
            </a:pPr>
            <a:r>
              <a:rPr lang="en-US" sz="1500" b="1">
                <a:solidFill>
                  <a:srgbClr val="182B48"/>
                </a:solidFill>
              </a:rPr>
              <a:t>1. Allocation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938528"/>
            <a:ext cx="3044952" cy="3584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E293B"/>
                </a:solidFill>
              </a:defRPr>
            </a:pPr>
            <a:r>
              <a:rPr lang="en-US" sz="1150">
                <a:solidFill>
                  <a:srgbClr val="1E293B"/>
                </a:solidFill>
              </a:rPr>
              <a:t>Manager checks school requirement and assigns teacher.</a:t>
            </a:r>
            <a:br/>
            <a:br/>
            <a:r>
              <a:rPr lang="en-US" sz="1150">
                <a:solidFill>
                  <a:srgbClr val="1E293B"/>
                </a:solidFill>
              </a:rPr>
              <a:t>Maintain start date, end date, school, manager and assignment history.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371600"/>
            <a:ext cx="3429000" cy="4297680"/>
          </a:xfrm>
          <a:prstGeom prst="roundRect">
            <a:avLst/>
          </a:prstGeom>
          <a:solidFill>
            <a:srgbClr val="F1F5F9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70832" y="1371600"/>
            <a:ext cx="73152" cy="4297680"/>
          </a:xfrm>
          <a:prstGeom prst="rect">
            <a:avLst/>
          </a:prstGeom>
          <a:solidFill>
            <a:srgbClr val="28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1536192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B48"/>
                </a:solidFill>
              </a:defRPr>
            </a:pPr>
            <a:r>
              <a:rPr lang="en-US" sz="1500" b="1">
                <a:solidFill>
                  <a:srgbClr val="182B48"/>
                </a:solidFill>
              </a:rPr>
              <a:t>2. Observation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938528"/>
            <a:ext cx="3044952" cy="3584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E293B"/>
                </a:solidFill>
              </a:defRPr>
            </a:pPr>
            <a:r>
              <a:rPr lang="en-US" sz="1150">
                <a:solidFill>
                  <a:srgbClr val="1E293B"/>
                </a:solidFill>
              </a:rPr>
              <a:t>Manager visits school, obtains Principal permission where required, observes the class and records findings.</a:t>
            </a:r>
            <a:br/>
            <a:br/>
            <a:r>
              <a:rPr lang="en-US" sz="1150">
                <a:solidFill>
                  <a:srgbClr val="1E293B"/>
                </a:solidFill>
              </a:rPr>
              <a:t>Capture Principal feedback and manager feedback.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1583" y="1371600"/>
            <a:ext cx="3429000" cy="4297680"/>
          </a:xfrm>
          <a:prstGeom prst="roundRect">
            <a:avLst/>
          </a:prstGeom>
          <a:solidFill>
            <a:srgbClr val="F1F5F9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01583" y="1371600"/>
            <a:ext cx="73152" cy="4297680"/>
          </a:xfrm>
          <a:prstGeom prst="rect">
            <a:avLst/>
          </a:prstGeom>
          <a:solidFill>
            <a:srgbClr val="DC8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02752" y="1536192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B48"/>
                </a:solidFill>
              </a:defRPr>
            </a:pPr>
            <a:r>
              <a:rPr lang="en-US" sz="1500" b="1">
                <a:solidFill>
                  <a:srgbClr val="182B48"/>
                </a:solidFill>
              </a:rPr>
              <a:t>3. 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1938528"/>
            <a:ext cx="3044952" cy="3584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E293B"/>
                </a:solidFill>
              </a:defRPr>
            </a:pPr>
            <a:r>
              <a:rPr lang="en-US" sz="1150">
                <a:solidFill>
                  <a:srgbClr val="1E293B"/>
                </a:solidFill>
              </a:rPr>
              <a:t>Good → Continue</a:t>
            </a:r>
            <a:br/>
            <a:br/>
            <a:r>
              <a:rPr lang="en-US" sz="1150">
                <a:solidFill>
                  <a:srgbClr val="1E293B"/>
                </a:solidFill>
              </a:rPr>
              <a:t>Needs improvement → Feedback + correction + follow-up</a:t>
            </a:r>
            <a:br/>
            <a:br/>
            <a:r>
              <a:rPr lang="en-US" sz="1150">
                <a:solidFill>
                  <a:srgbClr val="1E293B"/>
                </a:solidFill>
              </a:rPr>
              <a:t>Unsuitable → Transfer / Replacement</a:t>
            </a:r>
            <a:br/>
            <a:br/>
            <a:r>
              <a:rPr lang="en-US" sz="1150">
                <a:solidFill>
                  <a:srgbClr val="1E293B"/>
                </a:solidFill>
              </a:rPr>
              <a:t>Maintain complete history.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rPr lang="en-US" sz="800">
                <a:solidFill>
                  <a:srgbClr val="64748B"/>
                </a:solidFill>
              </a:rPr>
              <a:t>Operations Management System  |  Director Overview  |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B48"/>
                </a:solidFill>
              </a:defRPr>
            </a:pPr>
            <a:r>
              <a:rPr lang="en-US" sz="2700" b="1">
                <a:solidFill>
                  <a:srgbClr val="182B48"/>
                </a:solidFill>
              </a:rPr>
              <a:t>Daily Operations: Tasks, Substitution &amp; Accountability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rPr lang="en-US" sz="1200">
                <a:solidFill>
                  <a:srgbClr val="64748B"/>
                </a:solidFill>
              </a:rPr>
              <a:t>Every operational activity becomes a trackable task.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3383280" cy="4160520"/>
          </a:xfrm>
          <a:prstGeom prst="roundRect">
            <a:avLst/>
          </a:prstGeom>
          <a:solidFill>
            <a:srgbClr val="F1F5F9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73152" cy="4160520"/>
          </a:xfrm>
          <a:prstGeom prst="rect">
            <a:avLst/>
          </a:prstGeom>
          <a:solidFill>
            <a:srgbClr val="2D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1581912"/>
            <a:ext cx="3017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B48"/>
                </a:solidFill>
              </a:defRPr>
            </a:pPr>
            <a:r>
              <a:rPr lang="en-US" sz="1500" b="1">
                <a:solidFill>
                  <a:srgbClr val="182B48"/>
                </a:solidFill>
              </a:rPr>
              <a:t>Manager Tasks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984248"/>
            <a:ext cx="2999232" cy="3447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E293B"/>
                </a:solidFill>
              </a:defRPr>
            </a:pPr>
            <a:r>
              <a:rPr lang="en-US" sz="1150">
                <a:solidFill>
                  <a:srgbClr val="1E293B"/>
                </a:solidFill>
              </a:rPr>
              <a:t>• School visit</a:t>
            </a:r>
            <a:br/>
            <a:r>
              <a:rPr lang="en-US" sz="1150">
                <a:solidFill>
                  <a:srgbClr val="1E293B"/>
                </a:solidFill>
              </a:rPr>
              <a:t>• Follow-up</a:t>
            </a:r>
            <a:br/>
            <a:r>
              <a:rPr lang="en-US" sz="1150">
                <a:solidFill>
                  <a:srgbClr val="1E293B"/>
                </a:solidFill>
              </a:rPr>
              <a:t>• Content preparation</a:t>
            </a:r>
            <a:br/>
            <a:r>
              <a:rPr lang="en-US" sz="1150">
                <a:solidFill>
                  <a:srgbClr val="1E293B"/>
                </a:solidFill>
              </a:rPr>
              <a:t>• Content submission</a:t>
            </a:r>
            <a:br/>
            <a:r>
              <a:rPr lang="en-US" sz="1150">
                <a:solidFill>
                  <a:srgbClr val="1E293B"/>
                </a:solidFill>
              </a:rPr>
              <a:t>• Recruitment</a:t>
            </a:r>
            <a:br/>
            <a:r>
              <a:rPr lang="en-US" sz="1150">
                <a:solidFill>
                  <a:srgbClr val="1E293B"/>
                </a:solidFill>
              </a:rPr>
              <a:t>• Training</a:t>
            </a:r>
            <a:br/>
            <a:r>
              <a:rPr lang="en-US" sz="1150">
                <a:solidFill>
                  <a:srgbClr val="1E293B"/>
                </a:solidFill>
              </a:rPr>
              <a:t>• Teacher assignment</a:t>
            </a:r>
            <a:br/>
            <a:r>
              <a:rPr lang="en-US" sz="1150">
                <a:solidFill>
                  <a:srgbClr val="1E293B"/>
                </a:solidFill>
              </a:rPr>
              <a:t>• Teacher observation</a:t>
            </a:r>
            <a:br/>
            <a:r>
              <a:rPr lang="en-US" sz="1150">
                <a:solidFill>
                  <a:srgbClr val="1E293B"/>
                </a:solidFill>
              </a:rPr>
              <a:t>• Principal feedback</a:t>
            </a:r>
            <a:br/>
            <a:r>
              <a:rPr lang="en-US" sz="1150">
                <a:solidFill>
                  <a:srgbClr val="1E293B"/>
                </a:solidFill>
              </a:rPr>
              <a:t>• Substitute arrangement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17320"/>
            <a:ext cx="3383280" cy="4160520"/>
          </a:xfrm>
          <a:prstGeom prst="roundRect">
            <a:avLst/>
          </a:prstGeom>
          <a:solidFill>
            <a:srgbClr val="F1F5F9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0" y="1417320"/>
            <a:ext cx="73152" cy="4160520"/>
          </a:xfrm>
          <a:prstGeom prst="rect">
            <a:avLst/>
          </a:prstGeom>
          <a:solidFill>
            <a:srgbClr val="DC8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90288" y="1581912"/>
            <a:ext cx="3017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B48"/>
                </a:solidFill>
              </a:defRPr>
            </a:pPr>
            <a:r>
              <a:rPr lang="en-US" sz="1500" b="1">
                <a:solidFill>
                  <a:srgbClr val="182B48"/>
                </a:solidFill>
              </a:rPr>
              <a:t>Substitution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1984248"/>
            <a:ext cx="2999232" cy="3447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E293B"/>
                </a:solidFill>
              </a:defRPr>
            </a:pPr>
            <a:r>
              <a:rPr lang="en-US" sz="1150">
                <a:solidFill>
                  <a:srgbClr val="1E293B"/>
                </a:solidFill>
              </a:rPr>
              <a:t>Teacher absent</a:t>
            </a:r>
            <a:br/>
            <a:r>
              <a:rPr lang="en-US" sz="1150">
                <a:solidFill>
                  <a:srgbClr val="1E293B"/>
                </a:solidFill>
              </a:rPr>
              <a:t>↓</a:t>
            </a:r>
            <a:br/>
            <a:r>
              <a:rPr lang="en-US" sz="1150">
                <a:solidFill>
                  <a:srgbClr val="1E293B"/>
                </a:solidFill>
              </a:rPr>
              <a:t>Manager alerted</a:t>
            </a:r>
            <a:br/>
            <a:r>
              <a:rPr lang="en-US" sz="1150">
                <a:solidFill>
                  <a:srgbClr val="1E293B"/>
                </a:solidFill>
              </a:rPr>
              <a:t>↓</a:t>
            </a:r>
            <a:br/>
            <a:r>
              <a:rPr lang="en-US" sz="1150">
                <a:solidFill>
                  <a:srgbClr val="1E293B"/>
                </a:solidFill>
              </a:rPr>
              <a:t>Check available teachers</a:t>
            </a:r>
            <a:br/>
            <a:r>
              <a:rPr lang="en-US" sz="1150">
                <a:solidFill>
                  <a:srgbClr val="1E293B"/>
                </a:solidFill>
              </a:rPr>
              <a:t>↓</a:t>
            </a:r>
            <a:br/>
            <a:r>
              <a:rPr lang="en-US" sz="1150">
                <a:solidFill>
                  <a:srgbClr val="1E293B"/>
                </a:solidFill>
              </a:rPr>
              <a:t>Assign substitute</a:t>
            </a:r>
            <a:br/>
            <a:r>
              <a:rPr lang="en-US" sz="1150">
                <a:solidFill>
                  <a:srgbClr val="1E293B"/>
                </a:solidFill>
              </a:rPr>
              <a:t>↓</a:t>
            </a:r>
            <a:br/>
            <a:r>
              <a:rPr lang="en-US" sz="1150">
                <a:solidFill>
                  <a:srgbClr val="1E293B"/>
                </a:solidFill>
              </a:rPr>
              <a:t>School informed</a:t>
            </a:r>
            <a:br/>
            <a:r>
              <a:rPr lang="en-US" sz="1150">
                <a:solidFill>
                  <a:srgbClr val="1E293B"/>
                </a:solidFill>
              </a:rPr>
              <a:t>↓</a:t>
            </a:r>
            <a:br/>
            <a:r>
              <a:rPr lang="en-US" sz="1150">
                <a:solidFill>
                  <a:srgbClr val="1E293B"/>
                </a:solidFill>
              </a:rPr>
              <a:t>Class covered</a:t>
            </a:r>
            <a:br/>
            <a:br/>
            <a:r>
              <a:rPr lang="en-US" sz="1150">
                <a:solidFill>
                  <a:srgbClr val="1E293B"/>
                </a:solidFill>
              </a:rPr>
              <a:t>If no substitute is available, manager can personally handle the class.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417320"/>
            <a:ext cx="3383280" cy="4160520"/>
          </a:xfrm>
          <a:prstGeom prst="roundRect">
            <a:avLst/>
          </a:prstGeom>
          <a:solidFill>
            <a:srgbClr val="F1F5F9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38160" y="1417320"/>
            <a:ext cx="73152" cy="4160520"/>
          </a:xfrm>
          <a:prstGeom prst="rect">
            <a:avLst/>
          </a:prstGeom>
          <a:solidFill>
            <a:srgbClr val="228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39328" y="1581912"/>
            <a:ext cx="3017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B48"/>
                </a:solidFill>
              </a:defRPr>
            </a:pPr>
            <a:r>
              <a:rPr lang="en-US" sz="1500" b="1">
                <a:solidFill>
                  <a:srgbClr val="182B48"/>
                </a:solidFill>
              </a:rPr>
              <a:t>Accountability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8" y="1984248"/>
            <a:ext cx="2999232" cy="3447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E293B"/>
                </a:solidFill>
              </a:defRPr>
            </a:pPr>
            <a:r>
              <a:rPr lang="en-US" sz="1150">
                <a:solidFill>
                  <a:srgbClr val="1E293B"/>
                </a:solidFill>
              </a:rPr>
              <a:t>Assigned</a:t>
            </a:r>
            <a:br/>
            <a:r>
              <a:rPr lang="en-US" sz="1150">
                <a:solidFill>
                  <a:srgbClr val="1E293B"/>
                </a:solidFill>
              </a:rPr>
              <a:t>↓</a:t>
            </a:r>
            <a:br/>
            <a:r>
              <a:rPr lang="en-US" sz="1150">
                <a:solidFill>
                  <a:srgbClr val="1E293B"/>
                </a:solidFill>
              </a:rPr>
              <a:t>Acknowledged</a:t>
            </a:r>
            <a:br/>
            <a:r>
              <a:rPr lang="en-US" sz="1150">
                <a:solidFill>
                  <a:srgbClr val="1E293B"/>
                </a:solidFill>
              </a:rPr>
              <a:t>↓</a:t>
            </a:r>
            <a:br/>
            <a:r>
              <a:rPr lang="en-US" sz="1150">
                <a:solidFill>
                  <a:srgbClr val="1E293B"/>
                </a:solidFill>
              </a:rPr>
              <a:t>In Progress</a:t>
            </a:r>
            <a:br/>
            <a:r>
              <a:rPr lang="en-US" sz="1150">
                <a:solidFill>
                  <a:srgbClr val="1E293B"/>
                </a:solidFill>
              </a:rPr>
              <a:t>↓</a:t>
            </a:r>
            <a:br/>
            <a:r>
              <a:rPr lang="en-US" sz="1150">
                <a:solidFill>
                  <a:srgbClr val="1E293B"/>
                </a:solidFill>
              </a:rPr>
              <a:t>Completed</a:t>
            </a:r>
            <a:br/>
            <a:r>
              <a:rPr lang="en-US" sz="1150">
                <a:solidFill>
                  <a:srgbClr val="1E293B"/>
                </a:solidFill>
              </a:rPr>
              <a:t>↓</a:t>
            </a:r>
            <a:br/>
            <a:r>
              <a:rPr lang="en-US" sz="1150">
                <a:solidFill>
                  <a:srgbClr val="1E293B"/>
                </a:solidFill>
              </a:rPr>
              <a:t>Output / Evidence</a:t>
            </a:r>
            <a:br/>
            <a:r>
              <a:rPr lang="en-US" sz="1150">
                <a:solidFill>
                  <a:srgbClr val="1E293B"/>
                </a:solidFill>
              </a:rPr>
              <a:t>↓</a:t>
            </a:r>
            <a:br/>
            <a:r>
              <a:rPr lang="en-US" sz="1150">
                <a:solidFill>
                  <a:srgbClr val="1E293B"/>
                </a:solidFill>
              </a:rPr>
              <a:t>Verified</a:t>
            </a:r>
            <a:br/>
            <a:br/>
            <a:r>
              <a:rPr lang="en-US" sz="1150">
                <a:solidFill>
                  <a:srgbClr val="1E293B"/>
                </a:solidFill>
              </a:rPr>
              <a:t>If overdue → reason required → follow-up / escalation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rPr lang="en-US" sz="800">
                <a:solidFill>
                  <a:srgbClr val="64748B"/>
                </a:solidFill>
              </a:rPr>
              <a:t>Operations Management System  |  Director Overview  |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B48"/>
                </a:solidFill>
              </a:defRPr>
            </a:pPr>
            <a:r>
              <a:rPr lang="en-US" sz="2700" b="1">
                <a:solidFill>
                  <a:srgbClr val="182B48"/>
                </a:solidFill>
              </a:rPr>
              <a:t>Attendance — Teachers &amp; Managers</a:t>
            </a:r>
          </a:p>
        </p:txBody>
      </p:sp>
      <p:sp>
        <p:nvSpPr>
          <p:cNvPr id="5" name="TextBox 3"/>
          <p:cNvSpPr txBox="1"/>
          <p:nvPr/>
        </p:nvSpPr>
        <p:spPr>
          <a:xfrm>
            <a:off x="621792" y="9144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rPr lang="en-US" sz="1200">
                <a:solidFill>
                  <a:srgbClr val="64748B"/>
                </a:solidFill>
              </a:rPr>
              <a:t>Attendance is captured once and reused by substitution, payroll and manager accountability.</a:t>
            </a:r>
          </a:p>
        </p:txBody>
      </p:sp>
      <p:sp>
        <p:nvSpPr>
          <p:cNvPr id="18" name="TextBox 16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rPr lang="en-US" sz="800">
                <a:solidFill>
                  <a:srgbClr val="64748B"/>
                </a:solidFill>
              </a:rPr>
              <a:t>Operations Management System  |  Director Overview  |  9</a:t>
            </a:r>
          </a:p>
        </p:txBody>
      </p:sp>
      <p:sp>
        <p:nvSpPr>
          <p:cNvPr id="19" name="Rounded Rectangle 4"/>
          <p:cNvSpPr/>
          <p:nvPr/>
        </p:nvSpPr>
        <p:spPr>
          <a:xfrm>
            <a:off x="594360" y="1371600"/>
            <a:ext cx="5440680" cy="3611880"/>
          </a:xfrm>
          <a:prstGeom prst="roundRect">
            <a:avLst/>
          </a:prstGeom>
          <a:solidFill>
            <a:srgbClr val="F1F5F9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5"/>
          <p:cNvSpPr/>
          <p:nvPr/>
        </p:nvSpPr>
        <p:spPr>
          <a:xfrm>
            <a:off x="594360" y="1371600"/>
            <a:ext cx="73152" cy="3611880"/>
          </a:xfrm>
          <a:prstGeom prst="rect">
            <a:avLst/>
          </a:prstGeom>
          <a:solidFill>
            <a:srgbClr val="2D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6"/>
          <p:cNvSpPr txBox="1"/>
          <p:nvPr/>
        </p:nvSpPr>
        <p:spPr>
          <a:xfrm>
            <a:off x="795528" y="1536192"/>
            <a:ext cx="5074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B48"/>
                </a:solidFill>
              </a:defRPr>
            </a:pPr>
            <a:r>
              <a:rPr lang="en-US" sz="1500" b="1">
                <a:solidFill>
                  <a:srgbClr val="182B48"/>
                </a:solidFill>
              </a:rPr>
              <a:t>Teacher Attendance</a:t>
            </a:r>
          </a:p>
        </p:txBody>
      </p:sp>
      <p:sp>
        <p:nvSpPr>
          <p:cNvPr id="22" name="TextBox 7"/>
          <p:cNvSpPr txBox="1"/>
          <p:nvPr/>
        </p:nvSpPr>
        <p:spPr>
          <a:xfrm>
            <a:off x="795528" y="1938528"/>
            <a:ext cx="5056632" cy="2544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rPr lang="en-US" sz="1400" dirty="0">
                <a:solidFill>
                  <a:srgbClr val="1E293B"/>
                </a:solidFill>
              </a:rPr>
              <a:t>• Daily status per teacher per school: Present / Absent / Half-day / Leave / Holiday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rPr lang="en-US" sz="1400">
                <a:solidFill>
                  <a:srgbClr val="1E293B"/>
                </a:solidFill>
              </a:rPr>
              <a:t>• Marked by teacher check-in or by the manager; Principal confirmation were agreed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rPr lang="en-US" sz="1400" dirty="0">
                <a:solidFill>
                  <a:srgbClr val="1E293B"/>
                </a:solidFill>
              </a:rPr>
              <a:t>• Leave types: Casual, Sick, Loss-of-Pay, school holiday calendar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rPr lang="en-US" sz="1400" dirty="0">
                <a:solidFill>
                  <a:srgbClr val="1E293B"/>
                </a:solidFill>
              </a:rPr>
              <a:t>• An absence automatically raises a substitution requirement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rPr lang="en-US" sz="1400" dirty="0">
                <a:solidFill>
                  <a:srgbClr val="1E293B"/>
                </a:solidFill>
              </a:rPr>
              <a:t>• Substitute days are credited to the substitute, not the absent teacher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rPr lang="en-US" sz="1400" dirty="0">
                <a:solidFill>
                  <a:srgbClr val="1E293B"/>
                </a:solidFill>
              </a:rPr>
              <a:t>• Salary attendance counts only from the school reporting date</a:t>
            </a:r>
          </a:p>
        </p:txBody>
      </p:sp>
      <p:sp>
        <p:nvSpPr>
          <p:cNvPr id="23" name="Rounded Rectangle 4"/>
          <p:cNvSpPr/>
          <p:nvPr/>
        </p:nvSpPr>
        <p:spPr>
          <a:xfrm>
            <a:off x="6172200" y="1371600"/>
            <a:ext cx="5440680" cy="3611880"/>
          </a:xfrm>
          <a:prstGeom prst="roundRect">
            <a:avLst/>
          </a:prstGeom>
          <a:solidFill>
            <a:srgbClr val="F1F5F9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5"/>
          <p:cNvSpPr/>
          <p:nvPr/>
        </p:nvSpPr>
        <p:spPr>
          <a:xfrm>
            <a:off x="6172200" y="1371600"/>
            <a:ext cx="73152" cy="3611880"/>
          </a:xfrm>
          <a:prstGeom prst="rect">
            <a:avLst/>
          </a:prstGeom>
          <a:solidFill>
            <a:srgbClr val="28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6"/>
          <p:cNvSpPr txBox="1"/>
          <p:nvPr/>
        </p:nvSpPr>
        <p:spPr>
          <a:xfrm>
            <a:off x="6373368" y="1536192"/>
            <a:ext cx="5074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B48"/>
                </a:solidFill>
              </a:defRPr>
            </a:pPr>
            <a:r>
              <a:rPr lang="en-US" sz="1500" b="1">
                <a:solidFill>
                  <a:srgbClr val="182B48"/>
                </a:solidFill>
              </a:rPr>
              <a:t>Manager Attendance</a:t>
            </a:r>
          </a:p>
        </p:txBody>
      </p:sp>
      <p:sp>
        <p:nvSpPr>
          <p:cNvPr id="26" name="TextBox 7"/>
          <p:cNvSpPr txBox="1"/>
          <p:nvPr/>
        </p:nvSpPr>
        <p:spPr>
          <a:xfrm>
            <a:off x="6373368" y="1938528"/>
            <a:ext cx="5056632" cy="2953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rPr lang="en-US" sz="1400">
                <a:solidFill>
                  <a:srgbClr val="1E293B"/>
                </a:solidFill>
              </a:rPr>
              <a:t>• Daily check-in / check-out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rPr lang="en-US" sz="1400">
                <a:solidFill>
                  <a:srgbClr val="1E293B"/>
                </a:solidFill>
              </a:rPr>
              <a:t>• Day type: Office / Field (school visit, college drive, training) / Leave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rPr lang="en-US" sz="1400">
                <a:solidFill>
                  <a:srgbClr val="1E293B"/>
                </a:solidFill>
              </a:rPr>
              <a:t>• A field day must link to activities planned in the calendar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rPr lang="en-US" sz="1400">
                <a:solidFill>
                  <a:srgbClr val="1E293B"/>
                </a:solidFill>
              </a:rPr>
              <a:t>• Leave request → Director approval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rPr lang="en-US" sz="1400">
                <a:solidFill>
                  <a:srgbClr val="1E293B"/>
                </a:solidFill>
              </a:rPr>
              <a:t>• Missed check-in raises an alert to management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</a:defRPr>
            </a:pPr>
            <a:r>
              <a:rPr lang="en-US" sz="1400">
                <a:solidFill>
                  <a:srgbClr val="1E293B"/>
                </a:solidFill>
              </a:rPr>
              <a:t>• Optional GPS / photo evidence — to be confirmed</a:t>
            </a:r>
          </a:p>
        </p:txBody>
      </p:sp>
      <p:sp>
        <p:nvSpPr>
          <p:cNvPr id="27" name="Rounded Rectangle 4"/>
          <p:cNvSpPr/>
          <p:nvPr/>
        </p:nvSpPr>
        <p:spPr>
          <a:xfrm>
            <a:off x="594360" y="5212080"/>
            <a:ext cx="11018520" cy="731520"/>
          </a:xfrm>
          <a:prstGeom prst="roundRect">
            <a:avLst/>
          </a:prstGeom>
          <a:solidFill>
            <a:srgbClr val="F1F5F9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7"/>
          <p:cNvSpPr txBox="1"/>
          <p:nvPr/>
        </p:nvSpPr>
        <p:spPr>
          <a:xfrm>
            <a:off x="822960" y="5404104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E293B"/>
                </a:solidFill>
              </a:defRPr>
            </a:pPr>
            <a:r>
              <a:rPr lang="en-US" sz="1250">
                <a:solidFill>
                  <a:srgbClr val="1E293B"/>
                </a:solidFill>
              </a:rPr>
              <a:t>Reused downstream:   Teacher absence → substitution   •   Monthly attendance lock → payroll   •   Manager field days → visit plan &amp; travel claims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B48"/>
                </a:solidFill>
              </a:defRPr>
            </a:pPr>
            <a:r>
              <a:rPr lang="en-US" sz="2700" b="1">
                <a:solidFill>
                  <a:srgbClr val="182B48"/>
                </a:solidFill>
              </a:rPr>
              <a:t>Salary &amp; Payroll</a:t>
            </a:r>
          </a:p>
        </p:txBody>
      </p:sp>
      <p:sp>
        <p:nvSpPr>
          <p:cNvPr id="5" name="TextBox 3"/>
          <p:cNvSpPr txBox="1"/>
          <p:nvPr/>
        </p:nvSpPr>
        <p:spPr>
          <a:xfrm>
            <a:off x="621792" y="9144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rPr lang="en-US" sz="1200">
                <a:solidFill>
                  <a:srgbClr val="64748B"/>
                </a:solidFill>
              </a:rPr>
              <a:t>Monthly payroll is computed from locked attendance, salary structures, incentives and approved reimbursements.</a:t>
            </a:r>
          </a:p>
        </p:txBody>
      </p:sp>
      <p:sp>
        <p:nvSpPr>
          <p:cNvPr id="18" name="TextBox 16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rPr lang="en-US" sz="800">
                <a:solidFill>
                  <a:srgbClr val="64748B"/>
                </a:solidFill>
              </a:rPr>
              <a:t>Operations Management System  |  Director Overview  |  10</a:t>
            </a:r>
          </a:p>
        </p:txBody>
      </p:sp>
      <p:sp>
        <p:nvSpPr>
          <p:cNvPr id="19" name="Rounded Rectangle 4"/>
          <p:cNvSpPr/>
          <p:nvPr/>
        </p:nvSpPr>
        <p:spPr>
          <a:xfrm>
            <a:off x="411480" y="1325880"/>
            <a:ext cx="1459121" cy="749808"/>
          </a:xfrm>
          <a:prstGeom prst="roundRect">
            <a:avLst/>
          </a:prstGeom>
          <a:solidFill>
            <a:srgbClr val="18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5"/>
          <p:cNvSpPr txBox="1"/>
          <p:nvPr/>
        </p:nvSpPr>
        <p:spPr>
          <a:xfrm>
            <a:off x="466344" y="1417320"/>
            <a:ext cx="1349393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lang="en-US" sz="1100" b="1">
                <a:solidFill>
                  <a:srgbClr val="FFFFFF"/>
                </a:solidFill>
              </a:rPr>
              <a:t>Attendance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lang="en-US" sz="1100" b="1">
                <a:solidFill>
                  <a:srgbClr val="FFFFFF"/>
                </a:solidFill>
              </a:rPr>
              <a:t>Locked</a:t>
            </a:r>
          </a:p>
        </p:txBody>
      </p:sp>
      <p:cxnSp>
        <p:nvCxnSpPr>
          <p:cNvPr id="21" name="Connector 6"/>
          <p:cNvCxnSpPr/>
          <p:nvPr/>
        </p:nvCxnSpPr>
        <p:spPr>
          <a:xfrm>
            <a:off x="1879745" y="1700784"/>
            <a:ext cx="173736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4"/>
          <p:cNvSpPr/>
          <p:nvPr/>
        </p:nvSpPr>
        <p:spPr>
          <a:xfrm>
            <a:off x="2062625" y="1325880"/>
            <a:ext cx="1459121" cy="749808"/>
          </a:xfrm>
          <a:prstGeom prst="roundRect">
            <a:avLst/>
          </a:prstGeom>
          <a:solidFill>
            <a:srgbClr val="2D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5"/>
          <p:cNvSpPr txBox="1"/>
          <p:nvPr/>
        </p:nvSpPr>
        <p:spPr>
          <a:xfrm>
            <a:off x="2117489" y="1417320"/>
            <a:ext cx="1349393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lang="en-US" sz="1100" b="1">
                <a:solidFill>
                  <a:srgbClr val="FFFFFF"/>
                </a:solidFill>
              </a:rPr>
              <a:t>Salary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lang="en-US" sz="1100" b="1">
                <a:solidFill>
                  <a:srgbClr val="FFFFFF"/>
                </a:solidFill>
              </a:rPr>
              <a:t>Computed</a:t>
            </a:r>
          </a:p>
        </p:txBody>
      </p:sp>
      <p:cxnSp>
        <p:nvCxnSpPr>
          <p:cNvPr id="24" name="Connector 6"/>
          <p:cNvCxnSpPr/>
          <p:nvPr/>
        </p:nvCxnSpPr>
        <p:spPr>
          <a:xfrm>
            <a:off x="3530890" y="1700784"/>
            <a:ext cx="173736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4"/>
          <p:cNvSpPr/>
          <p:nvPr/>
        </p:nvSpPr>
        <p:spPr>
          <a:xfrm>
            <a:off x="3713770" y="1325880"/>
            <a:ext cx="1459121" cy="749808"/>
          </a:xfrm>
          <a:prstGeom prst="roundRect">
            <a:avLst/>
          </a:prstGeom>
          <a:solidFill>
            <a:srgbClr val="2D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5"/>
          <p:cNvSpPr txBox="1"/>
          <p:nvPr/>
        </p:nvSpPr>
        <p:spPr>
          <a:xfrm>
            <a:off x="3768634" y="1417320"/>
            <a:ext cx="1349393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lang="en-US" sz="1100" b="1">
                <a:solidFill>
                  <a:srgbClr val="FFFFFF"/>
                </a:solidFill>
              </a:rPr>
              <a:t>Deductions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lang="en-US" sz="1100" b="1">
                <a:solidFill>
                  <a:srgbClr val="FFFFFF"/>
                </a:solidFill>
              </a:rPr>
              <a:t>/ LOP</a:t>
            </a:r>
          </a:p>
        </p:txBody>
      </p:sp>
      <p:cxnSp>
        <p:nvCxnSpPr>
          <p:cNvPr id="27" name="Connector 6"/>
          <p:cNvCxnSpPr/>
          <p:nvPr/>
        </p:nvCxnSpPr>
        <p:spPr>
          <a:xfrm>
            <a:off x="5182035" y="1700784"/>
            <a:ext cx="173736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4"/>
          <p:cNvSpPr/>
          <p:nvPr/>
        </p:nvSpPr>
        <p:spPr>
          <a:xfrm>
            <a:off x="5364915" y="1325880"/>
            <a:ext cx="1459121" cy="749808"/>
          </a:xfrm>
          <a:prstGeom prst="roundRect">
            <a:avLst/>
          </a:prstGeom>
          <a:solidFill>
            <a:srgbClr val="28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5"/>
          <p:cNvSpPr txBox="1"/>
          <p:nvPr/>
        </p:nvSpPr>
        <p:spPr>
          <a:xfrm>
            <a:off x="5419779" y="1417320"/>
            <a:ext cx="1349393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lang="en-US" sz="1100" b="1">
                <a:solidFill>
                  <a:srgbClr val="FFFFFF"/>
                </a:solidFill>
              </a:rPr>
              <a:t>Incentives &amp;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lang="en-US" sz="1100" b="1">
                <a:solidFill>
                  <a:srgbClr val="FFFFFF"/>
                </a:solidFill>
              </a:rPr>
              <a:t>Reimburse.</a:t>
            </a:r>
          </a:p>
        </p:txBody>
      </p:sp>
      <p:cxnSp>
        <p:nvCxnSpPr>
          <p:cNvPr id="30" name="Connector 6"/>
          <p:cNvCxnSpPr/>
          <p:nvPr/>
        </p:nvCxnSpPr>
        <p:spPr>
          <a:xfrm>
            <a:off x="6833180" y="1700784"/>
            <a:ext cx="173736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4"/>
          <p:cNvSpPr/>
          <p:nvPr/>
        </p:nvSpPr>
        <p:spPr>
          <a:xfrm>
            <a:off x="7016060" y="1325880"/>
            <a:ext cx="1459121" cy="749808"/>
          </a:xfrm>
          <a:prstGeom prst="roundRect">
            <a:avLst/>
          </a:prstGeom>
          <a:solidFill>
            <a:srgbClr val="DC8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5"/>
          <p:cNvSpPr txBox="1"/>
          <p:nvPr/>
        </p:nvSpPr>
        <p:spPr>
          <a:xfrm>
            <a:off x="7070924" y="1417320"/>
            <a:ext cx="1349393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lang="en-US" sz="1100" b="1">
                <a:solidFill>
                  <a:srgbClr val="FFFFFF"/>
                </a:solidFill>
              </a:rPr>
              <a:t>Director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lang="en-US" sz="1100" b="1">
                <a:solidFill>
                  <a:srgbClr val="FFFFFF"/>
                </a:solidFill>
              </a:rPr>
              <a:t>Approval</a:t>
            </a:r>
          </a:p>
        </p:txBody>
      </p:sp>
      <p:cxnSp>
        <p:nvCxnSpPr>
          <p:cNvPr id="33" name="Connector 6"/>
          <p:cNvCxnSpPr/>
          <p:nvPr/>
        </p:nvCxnSpPr>
        <p:spPr>
          <a:xfrm>
            <a:off x="8484325" y="1700784"/>
            <a:ext cx="173736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4"/>
          <p:cNvSpPr/>
          <p:nvPr/>
        </p:nvSpPr>
        <p:spPr>
          <a:xfrm>
            <a:off x="8667205" y="1325880"/>
            <a:ext cx="1459121" cy="749808"/>
          </a:xfrm>
          <a:prstGeom prst="roundRect">
            <a:avLst/>
          </a:prstGeom>
          <a:solidFill>
            <a:srgbClr val="228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5"/>
          <p:cNvSpPr txBox="1"/>
          <p:nvPr/>
        </p:nvSpPr>
        <p:spPr>
          <a:xfrm>
            <a:off x="8722069" y="1417320"/>
            <a:ext cx="1349393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lang="en-US" sz="1100" b="1">
                <a:solidFill>
                  <a:srgbClr val="FFFFFF"/>
                </a:solidFill>
              </a:rPr>
              <a:t>Paid</a:t>
            </a:r>
          </a:p>
        </p:txBody>
      </p:sp>
      <p:cxnSp>
        <p:nvCxnSpPr>
          <p:cNvPr id="36" name="Connector 6"/>
          <p:cNvCxnSpPr/>
          <p:nvPr/>
        </p:nvCxnSpPr>
        <p:spPr>
          <a:xfrm>
            <a:off x="10135470" y="1700784"/>
            <a:ext cx="173736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4"/>
          <p:cNvSpPr/>
          <p:nvPr/>
        </p:nvSpPr>
        <p:spPr>
          <a:xfrm>
            <a:off x="10318350" y="1325880"/>
            <a:ext cx="1459121" cy="749808"/>
          </a:xfrm>
          <a:prstGeom prst="roundRect">
            <a:avLst/>
          </a:prstGeom>
          <a:solidFill>
            <a:srgbClr val="228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5"/>
          <p:cNvSpPr txBox="1"/>
          <p:nvPr/>
        </p:nvSpPr>
        <p:spPr>
          <a:xfrm>
            <a:off x="10373214" y="1417320"/>
            <a:ext cx="1349393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lang="en-US" sz="1100" b="1">
                <a:solidFill>
                  <a:srgbClr val="FFFFFF"/>
                </a:solidFill>
              </a:rPr>
              <a:t>Payslip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lang="en-US" sz="1100" b="1">
                <a:solidFill>
                  <a:srgbClr val="FFFFFF"/>
                </a:solidFill>
              </a:rPr>
              <a:t>Issued</a:t>
            </a:r>
          </a:p>
        </p:txBody>
      </p:sp>
      <p:sp>
        <p:nvSpPr>
          <p:cNvPr id="39" name="Rounded Rectangle 4"/>
          <p:cNvSpPr/>
          <p:nvPr/>
        </p:nvSpPr>
        <p:spPr>
          <a:xfrm>
            <a:off x="594360" y="2377440"/>
            <a:ext cx="3547872" cy="3337560"/>
          </a:xfrm>
          <a:prstGeom prst="roundRect">
            <a:avLst/>
          </a:prstGeom>
          <a:solidFill>
            <a:srgbClr val="F1F5F9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5"/>
          <p:cNvSpPr/>
          <p:nvPr/>
        </p:nvSpPr>
        <p:spPr>
          <a:xfrm>
            <a:off x="594360" y="2377440"/>
            <a:ext cx="73152" cy="3337560"/>
          </a:xfrm>
          <a:prstGeom prst="rect">
            <a:avLst/>
          </a:prstGeom>
          <a:solidFill>
            <a:srgbClr val="2D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6"/>
          <p:cNvSpPr txBox="1"/>
          <p:nvPr/>
        </p:nvSpPr>
        <p:spPr>
          <a:xfrm>
            <a:off x="795528" y="2542032"/>
            <a:ext cx="318211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B48"/>
                </a:solidFill>
              </a:defRPr>
            </a:pPr>
            <a:r>
              <a:rPr lang="en-US" sz="1500" b="1">
                <a:solidFill>
                  <a:srgbClr val="182B48"/>
                </a:solidFill>
              </a:rPr>
              <a:t>Teacher Salary</a:t>
            </a:r>
          </a:p>
        </p:txBody>
      </p:sp>
      <p:sp>
        <p:nvSpPr>
          <p:cNvPr id="42" name="TextBox 7"/>
          <p:cNvSpPr txBox="1"/>
          <p:nvPr/>
        </p:nvSpPr>
        <p:spPr>
          <a:xfrm>
            <a:off x="795528" y="2944368"/>
            <a:ext cx="3163824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E293B"/>
                </a:solidFill>
              </a:defRPr>
            </a:pPr>
            <a:r>
              <a:rPr lang="en-US" sz="1400" dirty="0">
                <a:solidFill>
                  <a:srgbClr val="1E293B"/>
                </a:solidFill>
              </a:rPr>
              <a:t>• Starts on the school reporting date — not the offer date</a:t>
            </a:r>
          </a:p>
          <a:p>
            <a:pPr>
              <a:spcAft>
                <a:spcPts val="900"/>
              </a:spcAft>
              <a:defRPr sz="1400">
                <a:solidFill>
                  <a:srgbClr val="1E293B"/>
                </a:solidFill>
              </a:defRPr>
            </a:pPr>
            <a:r>
              <a:rPr lang="en-US" sz="1400" dirty="0">
                <a:solidFill>
                  <a:srgbClr val="1E293B"/>
                </a:solidFill>
              </a:rPr>
              <a:t>• Training period is unpaid (current rule)</a:t>
            </a:r>
          </a:p>
          <a:p>
            <a:pPr>
              <a:spcAft>
                <a:spcPts val="900"/>
              </a:spcAft>
              <a:defRPr sz="1400">
                <a:solidFill>
                  <a:srgbClr val="1E293B"/>
                </a:solidFill>
              </a:defRPr>
            </a:pPr>
            <a:r>
              <a:rPr lang="en-US" sz="1400" dirty="0">
                <a:solidFill>
                  <a:srgbClr val="1E293B"/>
                </a:solidFill>
              </a:rPr>
              <a:t>• Academic cycle June → March / April</a:t>
            </a:r>
          </a:p>
          <a:p>
            <a:pPr>
              <a:spcAft>
                <a:spcPts val="900"/>
              </a:spcAft>
              <a:defRPr sz="1400">
                <a:solidFill>
                  <a:srgbClr val="1E293B"/>
                </a:solidFill>
              </a:defRPr>
            </a:pPr>
            <a:r>
              <a:rPr lang="en-US" sz="1400" dirty="0">
                <a:solidFill>
                  <a:srgbClr val="1E293B"/>
                </a:solidFill>
              </a:rPr>
              <a:t>• Pro-rata for mid-month joining, transfer or exit</a:t>
            </a:r>
          </a:p>
          <a:p>
            <a:pPr>
              <a:spcAft>
                <a:spcPts val="900"/>
              </a:spcAft>
              <a:defRPr sz="1400">
                <a:solidFill>
                  <a:srgbClr val="1E293B"/>
                </a:solidFill>
              </a:defRPr>
            </a:pPr>
            <a:r>
              <a:rPr lang="en-US" sz="1400" dirty="0">
                <a:solidFill>
                  <a:srgbClr val="1E293B"/>
                </a:solidFill>
              </a:rPr>
              <a:t>• Loss-of-pay from absence</a:t>
            </a:r>
          </a:p>
        </p:txBody>
      </p:sp>
      <p:sp>
        <p:nvSpPr>
          <p:cNvPr id="43" name="Rounded Rectangle 4"/>
          <p:cNvSpPr/>
          <p:nvPr/>
        </p:nvSpPr>
        <p:spPr>
          <a:xfrm>
            <a:off x="4325112" y="2377440"/>
            <a:ext cx="3547872" cy="3337560"/>
          </a:xfrm>
          <a:prstGeom prst="roundRect">
            <a:avLst/>
          </a:prstGeom>
          <a:solidFill>
            <a:srgbClr val="F1F5F9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5"/>
          <p:cNvSpPr/>
          <p:nvPr/>
        </p:nvSpPr>
        <p:spPr>
          <a:xfrm>
            <a:off x="4325112" y="2377440"/>
            <a:ext cx="73152" cy="3337560"/>
          </a:xfrm>
          <a:prstGeom prst="rect">
            <a:avLst/>
          </a:prstGeom>
          <a:solidFill>
            <a:srgbClr val="28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6"/>
          <p:cNvSpPr txBox="1"/>
          <p:nvPr/>
        </p:nvSpPr>
        <p:spPr>
          <a:xfrm>
            <a:off x="4526280" y="2542032"/>
            <a:ext cx="318211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B48"/>
                </a:solidFill>
              </a:defRPr>
            </a:pPr>
            <a:r>
              <a:rPr lang="en-US" sz="1500" b="1">
                <a:solidFill>
                  <a:srgbClr val="182B48"/>
                </a:solidFill>
              </a:rPr>
              <a:t>Manager Salary</a:t>
            </a:r>
          </a:p>
        </p:txBody>
      </p:sp>
      <p:sp>
        <p:nvSpPr>
          <p:cNvPr id="46" name="TextBox 7"/>
          <p:cNvSpPr txBox="1"/>
          <p:nvPr/>
        </p:nvSpPr>
        <p:spPr>
          <a:xfrm>
            <a:off x="4526280" y="2944368"/>
            <a:ext cx="3163824" cy="2679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E293B"/>
                </a:solidFill>
              </a:defRPr>
            </a:pPr>
            <a:r>
              <a:rPr lang="en-US" sz="1400">
                <a:solidFill>
                  <a:srgbClr val="1E293B"/>
                </a:solidFill>
              </a:rPr>
              <a:t>• Fixed monthly salary by designation</a:t>
            </a:r>
          </a:p>
          <a:p>
            <a:pPr>
              <a:spcAft>
                <a:spcPts val="900"/>
              </a:spcAft>
              <a:defRPr sz="1400">
                <a:solidFill>
                  <a:srgbClr val="1E293B"/>
                </a:solidFill>
              </a:defRPr>
            </a:pPr>
            <a:r>
              <a:rPr lang="en-US" sz="1400">
                <a:solidFill>
                  <a:srgbClr val="1E293B"/>
                </a:solidFill>
              </a:rPr>
              <a:t>• Plus ₹5,000 per verified school closure (Incentive module)</a:t>
            </a:r>
          </a:p>
          <a:p>
            <a:pPr>
              <a:spcAft>
                <a:spcPts val="900"/>
              </a:spcAft>
              <a:defRPr sz="1400">
                <a:solidFill>
                  <a:srgbClr val="1E293B"/>
                </a:solidFill>
              </a:defRPr>
            </a:pPr>
            <a:r>
              <a:rPr lang="en-US" sz="1400">
                <a:solidFill>
                  <a:srgbClr val="1E293B"/>
                </a:solidFill>
              </a:rPr>
              <a:t>• Plus approved travel / expense reimbursements</a:t>
            </a:r>
          </a:p>
          <a:p>
            <a:pPr>
              <a:spcAft>
                <a:spcPts val="900"/>
              </a:spcAft>
              <a:defRPr sz="1400">
                <a:solidFill>
                  <a:srgbClr val="1E293B"/>
                </a:solidFill>
              </a:defRPr>
            </a:pPr>
            <a:r>
              <a:rPr lang="en-US" sz="1400">
                <a:solidFill>
                  <a:srgbClr val="1E293B"/>
                </a:solidFill>
              </a:rPr>
              <a:t>• Minus loss-of-pay for unapproved leave</a:t>
            </a:r>
          </a:p>
        </p:txBody>
      </p:sp>
      <p:sp>
        <p:nvSpPr>
          <p:cNvPr id="47" name="Rounded Rectangle 4"/>
          <p:cNvSpPr/>
          <p:nvPr/>
        </p:nvSpPr>
        <p:spPr>
          <a:xfrm>
            <a:off x="8055864" y="2377440"/>
            <a:ext cx="3547872" cy="3337560"/>
          </a:xfrm>
          <a:prstGeom prst="roundRect">
            <a:avLst/>
          </a:prstGeom>
          <a:solidFill>
            <a:srgbClr val="F1F5F9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5"/>
          <p:cNvSpPr/>
          <p:nvPr/>
        </p:nvSpPr>
        <p:spPr>
          <a:xfrm>
            <a:off x="8055864" y="2377440"/>
            <a:ext cx="73152" cy="3337560"/>
          </a:xfrm>
          <a:prstGeom prst="rect">
            <a:avLst/>
          </a:prstGeom>
          <a:solidFill>
            <a:srgbClr val="DC8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6"/>
          <p:cNvSpPr txBox="1"/>
          <p:nvPr/>
        </p:nvSpPr>
        <p:spPr>
          <a:xfrm>
            <a:off x="8257032" y="2542032"/>
            <a:ext cx="318211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B48"/>
                </a:solidFill>
              </a:defRPr>
            </a:pPr>
            <a:r>
              <a:rPr lang="en-US" sz="1500" b="1">
                <a:solidFill>
                  <a:srgbClr val="182B48"/>
                </a:solidFill>
              </a:rPr>
              <a:t>Controls</a:t>
            </a:r>
          </a:p>
        </p:txBody>
      </p:sp>
      <p:sp>
        <p:nvSpPr>
          <p:cNvPr id="50" name="TextBox 7"/>
          <p:cNvSpPr txBox="1"/>
          <p:nvPr/>
        </p:nvSpPr>
        <p:spPr>
          <a:xfrm>
            <a:off x="8257032" y="2944368"/>
            <a:ext cx="3163824" cy="2679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E293B"/>
                </a:solidFill>
              </a:defRPr>
            </a:pPr>
            <a:r>
              <a:rPr lang="en-US" sz="1400">
                <a:solidFill>
                  <a:srgbClr val="1E293B"/>
                </a:solidFill>
              </a:rPr>
              <a:t>• Salary structure versioned by designation and effective date</a:t>
            </a:r>
          </a:p>
          <a:p>
            <a:pPr>
              <a:spcAft>
                <a:spcPts val="900"/>
              </a:spcAft>
              <a:defRPr sz="1400">
                <a:solidFill>
                  <a:srgbClr val="1E293B"/>
                </a:solidFill>
              </a:defRPr>
            </a:pPr>
            <a:r>
              <a:rPr lang="en-US" sz="1400">
                <a:solidFill>
                  <a:srgbClr val="1E293B"/>
                </a:solidFill>
              </a:rPr>
              <a:t>• Month is locked after approval — no silent edits</a:t>
            </a:r>
          </a:p>
          <a:p>
            <a:pPr>
              <a:spcAft>
                <a:spcPts val="900"/>
              </a:spcAft>
              <a:defRPr sz="1400">
                <a:solidFill>
                  <a:srgbClr val="1E293B"/>
                </a:solidFill>
              </a:defRPr>
            </a:pPr>
            <a:r>
              <a:rPr lang="en-US" sz="1400">
                <a:solidFill>
                  <a:srgbClr val="1E293B"/>
                </a:solidFill>
              </a:rPr>
              <a:t>• Corrections go in as adjustments in the next run</a:t>
            </a:r>
          </a:p>
          <a:p>
            <a:pPr>
              <a:spcAft>
                <a:spcPts val="900"/>
              </a:spcAft>
              <a:defRPr sz="1400">
                <a:solidFill>
                  <a:srgbClr val="1E293B"/>
                </a:solidFill>
              </a:defRPr>
            </a:pPr>
            <a:r>
              <a:rPr lang="en-US" sz="1400">
                <a:solidFill>
                  <a:srgbClr val="1E293B"/>
                </a:solidFill>
              </a:rPr>
              <a:t>• Full payslip and payment history per person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B48"/>
                </a:solidFill>
              </a:defRPr>
            </a:pPr>
            <a:r>
              <a:rPr lang="en-US" sz="2700" b="1">
                <a:solidFill>
                  <a:srgbClr val="182B48"/>
                </a:solidFill>
              </a:rPr>
              <a:t>Office Expense Tracking</a:t>
            </a:r>
          </a:p>
        </p:txBody>
      </p:sp>
      <p:sp>
        <p:nvSpPr>
          <p:cNvPr id="5" name="TextBox 3"/>
          <p:cNvSpPr txBox="1"/>
          <p:nvPr/>
        </p:nvSpPr>
        <p:spPr>
          <a:xfrm>
            <a:off x="621792" y="9144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rPr lang="en-US" sz="1200">
                <a:solidFill>
                  <a:srgbClr val="64748B"/>
                </a:solidFill>
              </a:rPr>
              <a:t>Every rupee spent is recorded with a bill, a category, an area and an approver.</a:t>
            </a:r>
          </a:p>
        </p:txBody>
      </p:sp>
      <p:sp>
        <p:nvSpPr>
          <p:cNvPr id="18" name="TextBox 16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rPr lang="en-US" sz="800">
                <a:solidFill>
                  <a:srgbClr val="64748B"/>
                </a:solidFill>
              </a:rPr>
              <a:t>Operations Management System  |  Director Overview  |  11</a:t>
            </a:r>
          </a:p>
        </p:txBody>
      </p:sp>
      <p:sp>
        <p:nvSpPr>
          <p:cNvPr id="19" name="Rounded Rectangle 4"/>
          <p:cNvSpPr/>
          <p:nvPr/>
        </p:nvSpPr>
        <p:spPr>
          <a:xfrm>
            <a:off x="594360" y="1371600"/>
            <a:ext cx="3291840" cy="4434840"/>
          </a:xfrm>
          <a:prstGeom prst="roundRect">
            <a:avLst/>
          </a:prstGeom>
          <a:solidFill>
            <a:srgbClr val="F1F5F9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5"/>
          <p:cNvSpPr/>
          <p:nvPr/>
        </p:nvSpPr>
        <p:spPr>
          <a:xfrm>
            <a:off x="594360" y="1371600"/>
            <a:ext cx="73152" cy="4434840"/>
          </a:xfrm>
          <a:prstGeom prst="rect">
            <a:avLst/>
          </a:prstGeom>
          <a:solidFill>
            <a:srgbClr val="2D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6"/>
          <p:cNvSpPr txBox="1"/>
          <p:nvPr/>
        </p:nvSpPr>
        <p:spPr>
          <a:xfrm>
            <a:off x="795528" y="1536192"/>
            <a:ext cx="29260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B48"/>
                </a:solidFill>
              </a:defRPr>
            </a:pPr>
            <a:r>
              <a:rPr lang="en-US" sz="1500" b="1">
                <a:solidFill>
                  <a:srgbClr val="182B48"/>
                </a:solidFill>
              </a:rPr>
              <a:t>Expense Workflow</a:t>
            </a:r>
          </a:p>
        </p:txBody>
      </p:sp>
      <p:sp>
        <p:nvSpPr>
          <p:cNvPr id="22" name="TextBox 7"/>
          <p:cNvSpPr txBox="1"/>
          <p:nvPr/>
        </p:nvSpPr>
        <p:spPr>
          <a:xfrm>
            <a:off x="795528" y="1938528"/>
            <a:ext cx="2907792" cy="3776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</a:defRPr>
            </a:pPr>
            <a:r>
              <a:rPr lang="en-US" sz="1200">
                <a:solidFill>
                  <a:srgbClr val="1E293B"/>
                </a:solidFill>
              </a:rPr>
              <a:t>Expense raised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rPr lang="en-US" sz="1200">
                <a:solidFill>
                  <a:srgbClr val="1E293B"/>
                </a:solidFill>
              </a:rPr>
              <a:t>↓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rPr lang="en-US" sz="1200">
                <a:solidFill>
                  <a:srgbClr val="1E293B"/>
                </a:solidFill>
              </a:rPr>
              <a:t>Bill / receipt uploaded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rPr lang="en-US" sz="1200">
                <a:solidFill>
                  <a:srgbClr val="1E293B"/>
                </a:solidFill>
              </a:rPr>
              <a:t>↓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rPr lang="en-US" sz="1200">
                <a:solidFill>
                  <a:srgbClr val="1E293B"/>
                </a:solidFill>
              </a:rPr>
              <a:t>Category, area &amp; manager tagged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rPr lang="en-US" sz="1200">
                <a:solidFill>
                  <a:srgbClr val="1E293B"/>
                </a:solidFill>
              </a:rPr>
              <a:t>↓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rPr lang="en-US" sz="1200">
                <a:solidFill>
                  <a:srgbClr val="1E293B"/>
                </a:solidFill>
              </a:rPr>
              <a:t>Reviewed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rPr lang="en-US" sz="1200">
                <a:solidFill>
                  <a:srgbClr val="1E293B"/>
                </a:solidFill>
              </a:rPr>
              <a:t>↓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rPr lang="en-US" sz="1200">
                <a:solidFill>
                  <a:srgbClr val="1E293B"/>
                </a:solidFill>
              </a:rPr>
              <a:t>Director approval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rPr lang="en-US" sz="1200">
                <a:solidFill>
                  <a:srgbClr val="1E293B"/>
                </a:solidFill>
              </a:rPr>
              <a:t>↓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rPr lang="en-US" sz="1200">
                <a:solidFill>
                  <a:srgbClr val="1E293B"/>
                </a:solidFill>
              </a:rPr>
              <a:t>Paid / Reimbursed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rPr lang="en-US" sz="1200">
                <a:solidFill>
                  <a:srgbClr val="1E293B"/>
                </a:solidFill>
              </a:rPr>
              <a:t>↓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rPr lang="en-US" sz="1200">
                <a:solidFill>
                  <a:srgbClr val="1E293B"/>
                </a:solidFill>
              </a:rPr>
              <a:t>Posted to monthly report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endParaRPr lang="en-US" sz="1200">
              <a:solidFill>
                <a:srgbClr val="1E293B"/>
              </a:solidFill>
            </a:endParaRPr>
          </a:p>
          <a:p>
            <a:pPr>
              <a:defRPr sz="1200">
                <a:solidFill>
                  <a:srgbClr val="1E293B"/>
                </a:solidFill>
              </a:defRPr>
            </a:pPr>
            <a:r>
              <a:rPr lang="en-US" sz="1200">
                <a:solidFill>
                  <a:srgbClr val="1E293B"/>
                </a:solidFill>
              </a:rPr>
              <a:t>Rejected → reason required → resubmit</a:t>
            </a:r>
          </a:p>
        </p:txBody>
      </p:sp>
      <p:sp>
        <p:nvSpPr>
          <p:cNvPr id="23" name="Rounded Rectangle 4"/>
          <p:cNvSpPr/>
          <p:nvPr/>
        </p:nvSpPr>
        <p:spPr>
          <a:xfrm>
            <a:off x="4114800" y="1371600"/>
            <a:ext cx="2395728" cy="1298448"/>
          </a:xfrm>
          <a:prstGeom prst="roundRect">
            <a:avLst/>
          </a:prstGeom>
          <a:solidFill>
            <a:srgbClr val="F1F5F9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5"/>
          <p:cNvSpPr/>
          <p:nvPr/>
        </p:nvSpPr>
        <p:spPr>
          <a:xfrm>
            <a:off x="4114800" y="1371600"/>
            <a:ext cx="73152" cy="1298448"/>
          </a:xfrm>
          <a:prstGeom prst="rect">
            <a:avLst/>
          </a:prstGeom>
          <a:solidFill>
            <a:srgbClr val="18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6"/>
          <p:cNvSpPr txBox="1"/>
          <p:nvPr/>
        </p:nvSpPr>
        <p:spPr>
          <a:xfrm>
            <a:off x="4315968" y="1536192"/>
            <a:ext cx="202996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B48"/>
                </a:solidFill>
              </a:defRPr>
            </a:pPr>
            <a:r>
              <a:rPr lang="en-US" sz="1500" b="1">
                <a:solidFill>
                  <a:srgbClr val="182B48"/>
                </a:solidFill>
              </a:rPr>
              <a:t>Rent &amp; Utilities</a:t>
            </a:r>
          </a:p>
        </p:txBody>
      </p:sp>
      <p:sp>
        <p:nvSpPr>
          <p:cNvPr id="26" name="TextBox 7"/>
          <p:cNvSpPr txBox="1"/>
          <p:nvPr/>
        </p:nvSpPr>
        <p:spPr>
          <a:xfrm>
            <a:off x="4315968" y="1938528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E293B"/>
                </a:solidFill>
              </a:defRPr>
            </a:pPr>
            <a:r>
              <a:rPr lang="en-US" sz="1150">
                <a:solidFill>
                  <a:srgbClr val="1E293B"/>
                </a:solidFill>
              </a:rPr>
              <a:t>Office rent, power, internet, phone</a:t>
            </a:r>
          </a:p>
        </p:txBody>
      </p:sp>
      <p:sp>
        <p:nvSpPr>
          <p:cNvPr id="27" name="Rounded Rectangle 4"/>
          <p:cNvSpPr/>
          <p:nvPr/>
        </p:nvSpPr>
        <p:spPr>
          <a:xfrm>
            <a:off x="6693408" y="1371600"/>
            <a:ext cx="2395728" cy="1298448"/>
          </a:xfrm>
          <a:prstGeom prst="roundRect">
            <a:avLst/>
          </a:prstGeom>
          <a:solidFill>
            <a:srgbClr val="F1F5F9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5"/>
          <p:cNvSpPr/>
          <p:nvPr/>
        </p:nvSpPr>
        <p:spPr>
          <a:xfrm>
            <a:off x="6693408" y="1371600"/>
            <a:ext cx="73152" cy="1298448"/>
          </a:xfrm>
          <a:prstGeom prst="rect">
            <a:avLst/>
          </a:prstGeom>
          <a:solidFill>
            <a:srgbClr val="28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6"/>
          <p:cNvSpPr txBox="1"/>
          <p:nvPr/>
        </p:nvSpPr>
        <p:spPr>
          <a:xfrm>
            <a:off x="6894576" y="1536192"/>
            <a:ext cx="202996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B48"/>
                </a:solidFill>
              </a:defRPr>
            </a:pPr>
            <a:r>
              <a:rPr lang="en-US" sz="1500" b="1">
                <a:solidFill>
                  <a:srgbClr val="182B48"/>
                </a:solidFill>
              </a:rPr>
              <a:t>Travel &amp; Fuel</a:t>
            </a:r>
          </a:p>
        </p:txBody>
      </p:sp>
      <p:sp>
        <p:nvSpPr>
          <p:cNvPr id="30" name="TextBox 7"/>
          <p:cNvSpPr txBox="1"/>
          <p:nvPr/>
        </p:nvSpPr>
        <p:spPr>
          <a:xfrm>
            <a:off x="6894576" y="1938528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E293B"/>
                </a:solidFill>
              </a:defRPr>
            </a:pPr>
            <a:r>
              <a:rPr lang="en-US" sz="1150">
                <a:solidFill>
                  <a:srgbClr val="1E293B"/>
                </a:solidFill>
              </a:rPr>
              <a:t>Linked to the school visit or college drive it was for</a:t>
            </a:r>
          </a:p>
        </p:txBody>
      </p:sp>
      <p:sp>
        <p:nvSpPr>
          <p:cNvPr id="31" name="Rounded Rectangle 4"/>
          <p:cNvSpPr/>
          <p:nvPr/>
        </p:nvSpPr>
        <p:spPr>
          <a:xfrm>
            <a:off x="9272016" y="1371600"/>
            <a:ext cx="2395728" cy="1298448"/>
          </a:xfrm>
          <a:prstGeom prst="roundRect">
            <a:avLst/>
          </a:prstGeom>
          <a:solidFill>
            <a:srgbClr val="F1F5F9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5"/>
          <p:cNvSpPr/>
          <p:nvPr/>
        </p:nvSpPr>
        <p:spPr>
          <a:xfrm>
            <a:off x="9272016" y="1371600"/>
            <a:ext cx="73152" cy="1298448"/>
          </a:xfrm>
          <a:prstGeom prst="rect">
            <a:avLst/>
          </a:prstGeom>
          <a:solidFill>
            <a:srgbClr val="DC8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6"/>
          <p:cNvSpPr txBox="1"/>
          <p:nvPr/>
        </p:nvSpPr>
        <p:spPr>
          <a:xfrm>
            <a:off x="9473184" y="1536192"/>
            <a:ext cx="202996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B48"/>
                </a:solidFill>
              </a:defRPr>
            </a:pPr>
            <a:r>
              <a:rPr lang="en-US" sz="1500" b="1">
                <a:solidFill>
                  <a:srgbClr val="182B48"/>
                </a:solidFill>
              </a:rPr>
              <a:t>Training Stay</a:t>
            </a:r>
          </a:p>
        </p:txBody>
      </p:sp>
      <p:sp>
        <p:nvSpPr>
          <p:cNvPr id="34" name="TextBox 7"/>
          <p:cNvSpPr txBox="1"/>
          <p:nvPr/>
        </p:nvSpPr>
        <p:spPr>
          <a:xfrm>
            <a:off x="9473184" y="1938528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E293B"/>
                </a:solidFill>
              </a:defRPr>
            </a:pPr>
            <a:r>
              <a:rPr lang="en-US" sz="1150">
                <a:solidFill>
                  <a:srgbClr val="1E293B"/>
                </a:solidFill>
              </a:rPr>
              <a:t>Food &amp; accommodation during training batches</a:t>
            </a:r>
          </a:p>
        </p:txBody>
      </p:sp>
      <p:sp>
        <p:nvSpPr>
          <p:cNvPr id="35" name="Rounded Rectangle 4"/>
          <p:cNvSpPr/>
          <p:nvPr/>
        </p:nvSpPr>
        <p:spPr>
          <a:xfrm>
            <a:off x="4114800" y="2852928"/>
            <a:ext cx="2395728" cy="1298448"/>
          </a:xfrm>
          <a:prstGeom prst="roundRect">
            <a:avLst/>
          </a:prstGeom>
          <a:solidFill>
            <a:srgbClr val="F1F5F9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5"/>
          <p:cNvSpPr/>
          <p:nvPr/>
        </p:nvSpPr>
        <p:spPr>
          <a:xfrm>
            <a:off x="4114800" y="2852928"/>
            <a:ext cx="73152" cy="1298448"/>
          </a:xfrm>
          <a:prstGeom prst="rect">
            <a:avLst/>
          </a:prstGeom>
          <a:solidFill>
            <a:srgbClr val="2D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6"/>
          <p:cNvSpPr txBox="1"/>
          <p:nvPr/>
        </p:nvSpPr>
        <p:spPr>
          <a:xfrm>
            <a:off x="4315968" y="3017520"/>
            <a:ext cx="202996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B48"/>
                </a:solidFill>
              </a:defRPr>
            </a:pPr>
            <a:r>
              <a:rPr lang="en-US" sz="1500" b="1">
                <a:solidFill>
                  <a:srgbClr val="182B48"/>
                </a:solidFill>
              </a:rPr>
              <a:t>Marketing</a:t>
            </a:r>
          </a:p>
        </p:txBody>
      </p:sp>
      <p:sp>
        <p:nvSpPr>
          <p:cNvPr id="38" name="TextBox 7"/>
          <p:cNvSpPr txBox="1"/>
          <p:nvPr/>
        </p:nvSpPr>
        <p:spPr>
          <a:xfrm>
            <a:off x="4315968" y="3419856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E293B"/>
                </a:solidFill>
              </a:defRPr>
            </a:pPr>
            <a:r>
              <a:rPr lang="en-US" sz="1150">
                <a:solidFill>
                  <a:srgbClr val="1E293B"/>
                </a:solidFill>
              </a:rPr>
              <a:t>Brochures, printing, school presentation material</a:t>
            </a:r>
          </a:p>
        </p:txBody>
      </p:sp>
      <p:sp>
        <p:nvSpPr>
          <p:cNvPr id="39" name="Rounded Rectangle 4"/>
          <p:cNvSpPr/>
          <p:nvPr/>
        </p:nvSpPr>
        <p:spPr>
          <a:xfrm>
            <a:off x="6693408" y="2852928"/>
            <a:ext cx="2395728" cy="1298448"/>
          </a:xfrm>
          <a:prstGeom prst="roundRect">
            <a:avLst/>
          </a:prstGeom>
          <a:solidFill>
            <a:srgbClr val="F1F5F9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5"/>
          <p:cNvSpPr/>
          <p:nvPr/>
        </p:nvSpPr>
        <p:spPr>
          <a:xfrm>
            <a:off x="6693408" y="2852928"/>
            <a:ext cx="73152" cy="1298448"/>
          </a:xfrm>
          <a:prstGeom prst="rect">
            <a:avLst/>
          </a:prstGeom>
          <a:solidFill>
            <a:srgbClr val="228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6"/>
          <p:cNvSpPr txBox="1"/>
          <p:nvPr/>
        </p:nvSpPr>
        <p:spPr>
          <a:xfrm>
            <a:off x="6894576" y="3017520"/>
            <a:ext cx="202996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B48"/>
                </a:solidFill>
              </a:defRPr>
            </a:pPr>
            <a:r>
              <a:rPr lang="en-US" sz="1500" b="1">
                <a:solidFill>
                  <a:srgbClr val="182B48"/>
                </a:solidFill>
              </a:rPr>
              <a:t>Office Supplies</a:t>
            </a:r>
          </a:p>
        </p:txBody>
      </p:sp>
      <p:sp>
        <p:nvSpPr>
          <p:cNvPr id="42" name="TextBox 7"/>
          <p:cNvSpPr txBox="1"/>
          <p:nvPr/>
        </p:nvSpPr>
        <p:spPr>
          <a:xfrm>
            <a:off x="6894576" y="3419856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E293B"/>
                </a:solidFill>
              </a:defRPr>
            </a:pPr>
            <a:r>
              <a:rPr lang="en-US" sz="1150">
                <a:solidFill>
                  <a:srgbClr val="1E293B"/>
                </a:solidFill>
              </a:rPr>
              <a:t>Stationery, equipment, maintenance</a:t>
            </a:r>
          </a:p>
        </p:txBody>
      </p:sp>
      <p:sp>
        <p:nvSpPr>
          <p:cNvPr id="43" name="Rounded Rectangle 4"/>
          <p:cNvSpPr/>
          <p:nvPr/>
        </p:nvSpPr>
        <p:spPr>
          <a:xfrm>
            <a:off x="9272016" y="2852928"/>
            <a:ext cx="2395728" cy="1298448"/>
          </a:xfrm>
          <a:prstGeom prst="roundRect">
            <a:avLst/>
          </a:prstGeom>
          <a:solidFill>
            <a:srgbClr val="F1F5F9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5"/>
          <p:cNvSpPr/>
          <p:nvPr/>
        </p:nvSpPr>
        <p:spPr>
          <a:xfrm>
            <a:off x="9272016" y="2852928"/>
            <a:ext cx="73152" cy="1298448"/>
          </a:xfrm>
          <a:prstGeom prst="rect">
            <a:avLst/>
          </a:prstGeom>
          <a:solidFill>
            <a:srgbClr val="BE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6"/>
          <p:cNvSpPr txBox="1"/>
          <p:nvPr/>
        </p:nvSpPr>
        <p:spPr>
          <a:xfrm>
            <a:off x="9473184" y="3017520"/>
            <a:ext cx="202996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B48"/>
                </a:solidFill>
              </a:defRPr>
            </a:pPr>
            <a:r>
              <a:rPr lang="en-US" sz="1500" b="1">
                <a:solidFill>
                  <a:srgbClr val="182B48"/>
                </a:solidFill>
              </a:rPr>
              <a:t>Other</a:t>
            </a:r>
          </a:p>
        </p:txBody>
      </p:sp>
      <p:sp>
        <p:nvSpPr>
          <p:cNvPr id="46" name="TextBox 7"/>
          <p:cNvSpPr txBox="1"/>
          <p:nvPr/>
        </p:nvSpPr>
        <p:spPr>
          <a:xfrm>
            <a:off x="9473184" y="3419856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E293B"/>
                </a:solidFill>
              </a:defRPr>
            </a:pPr>
            <a:r>
              <a:rPr lang="en-US" sz="1150">
                <a:solidFill>
                  <a:srgbClr val="1E293B"/>
                </a:solidFill>
              </a:rPr>
              <a:t>Allowed only with a mandatory reason</a:t>
            </a:r>
          </a:p>
        </p:txBody>
      </p:sp>
      <p:sp>
        <p:nvSpPr>
          <p:cNvPr id="47" name="Rounded Rectangle 4"/>
          <p:cNvSpPr/>
          <p:nvPr/>
        </p:nvSpPr>
        <p:spPr>
          <a:xfrm>
            <a:off x="4114800" y="4343400"/>
            <a:ext cx="7552944" cy="1463040"/>
          </a:xfrm>
          <a:prstGeom prst="roundRect">
            <a:avLst/>
          </a:prstGeom>
          <a:solidFill>
            <a:srgbClr val="F1F5F9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5"/>
          <p:cNvSpPr/>
          <p:nvPr/>
        </p:nvSpPr>
        <p:spPr>
          <a:xfrm>
            <a:off x="4114800" y="4343400"/>
            <a:ext cx="73152" cy="1463040"/>
          </a:xfrm>
          <a:prstGeom prst="rect">
            <a:avLst/>
          </a:prstGeom>
          <a:solidFill>
            <a:srgbClr val="18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6"/>
          <p:cNvSpPr txBox="1"/>
          <p:nvPr/>
        </p:nvSpPr>
        <p:spPr>
          <a:xfrm>
            <a:off x="4315968" y="4507992"/>
            <a:ext cx="7187184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B48"/>
                </a:solidFill>
              </a:defRPr>
            </a:pPr>
            <a:r>
              <a:rPr lang="en-US" sz="1500" b="1">
                <a:solidFill>
                  <a:srgbClr val="182B48"/>
                </a:solidFill>
              </a:rPr>
              <a:t>What management sees</a:t>
            </a:r>
          </a:p>
        </p:txBody>
      </p:sp>
      <p:sp>
        <p:nvSpPr>
          <p:cNvPr id="50" name="TextBox 7"/>
          <p:cNvSpPr txBox="1"/>
          <p:nvPr/>
        </p:nvSpPr>
        <p:spPr>
          <a:xfrm>
            <a:off x="4315968" y="4910328"/>
            <a:ext cx="716889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rPr lang="en-US" sz="1200">
                <a:solidFill>
                  <a:srgbClr val="1E293B"/>
                </a:solidFill>
              </a:rPr>
              <a:t>• Monthly spend by category, area and manager</a:t>
            </a:r>
          </a:p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rPr lang="en-US" sz="1200">
                <a:solidFill>
                  <a:srgbClr val="1E293B"/>
                </a:solidFill>
              </a:rPr>
              <a:t>• Budget vs actual per area   •   Pending approvals and ageing</a:t>
            </a:r>
          </a:p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</a:defRPr>
            </a:pPr>
            <a:r>
              <a:rPr lang="en-US" sz="1200">
                <a:solidFill>
                  <a:srgbClr val="1E293B"/>
                </a:solidFill>
              </a:rPr>
              <a:t>• Cost per school acquired and per teacher trained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B48"/>
                </a:solidFill>
              </a:defRPr>
            </a:pPr>
            <a:r>
              <a:rPr lang="en-US" sz="2700" b="1">
                <a:solidFill>
                  <a:srgbClr val="182B48"/>
                </a:solidFill>
              </a:rPr>
              <a:t>School Payments — Receivables</a:t>
            </a:r>
          </a:p>
        </p:txBody>
      </p:sp>
      <p:sp>
        <p:nvSpPr>
          <p:cNvPr id="5" name="TextBox 3"/>
          <p:cNvSpPr txBox="1"/>
          <p:nvPr/>
        </p:nvSpPr>
        <p:spPr>
          <a:xfrm>
            <a:off x="621792" y="9144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rPr lang="en-US" sz="1200">
                <a:solidFill>
                  <a:srgbClr val="64748B"/>
                </a:solidFill>
              </a:rPr>
              <a:t>Track what each school owes the company, what has been collected and what is overdue.</a:t>
            </a:r>
          </a:p>
        </p:txBody>
      </p:sp>
      <p:sp>
        <p:nvSpPr>
          <p:cNvPr id="18" name="TextBox 16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rPr lang="en-US" sz="800">
                <a:solidFill>
                  <a:srgbClr val="64748B"/>
                </a:solidFill>
              </a:rPr>
              <a:t>Operations Management System  |  Director Overview  |  12</a:t>
            </a:r>
          </a:p>
        </p:txBody>
      </p:sp>
      <p:sp>
        <p:nvSpPr>
          <p:cNvPr id="19" name="Rounded Rectangle 4"/>
          <p:cNvSpPr/>
          <p:nvPr/>
        </p:nvSpPr>
        <p:spPr>
          <a:xfrm>
            <a:off x="411480" y="1325880"/>
            <a:ext cx="1459121" cy="749808"/>
          </a:xfrm>
          <a:prstGeom prst="roundRect">
            <a:avLst/>
          </a:prstGeom>
          <a:solidFill>
            <a:srgbClr val="18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5"/>
          <p:cNvSpPr txBox="1"/>
          <p:nvPr/>
        </p:nvSpPr>
        <p:spPr>
          <a:xfrm>
            <a:off x="466344" y="1417320"/>
            <a:ext cx="1349393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lang="en-US" sz="1100" b="1">
                <a:solidFill>
                  <a:srgbClr val="FFFFFF"/>
                </a:solidFill>
              </a:rPr>
              <a:t>MoU Fee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lang="en-US" sz="1100" b="1">
                <a:solidFill>
                  <a:srgbClr val="FFFFFF"/>
                </a:solidFill>
              </a:rPr>
              <a:t>Terms</a:t>
            </a:r>
          </a:p>
        </p:txBody>
      </p:sp>
      <p:cxnSp>
        <p:nvCxnSpPr>
          <p:cNvPr id="21" name="Connector 6"/>
          <p:cNvCxnSpPr/>
          <p:nvPr/>
        </p:nvCxnSpPr>
        <p:spPr>
          <a:xfrm>
            <a:off x="1879745" y="1700784"/>
            <a:ext cx="173736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4"/>
          <p:cNvSpPr/>
          <p:nvPr/>
        </p:nvSpPr>
        <p:spPr>
          <a:xfrm>
            <a:off x="2062625" y="1325880"/>
            <a:ext cx="1459121" cy="749808"/>
          </a:xfrm>
          <a:prstGeom prst="roundRect">
            <a:avLst/>
          </a:prstGeom>
          <a:solidFill>
            <a:srgbClr val="2D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5"/>
          <p:cNvSpPr txBox="1"/>
          <p:nvPr/>
        </p:nvSpPr>
        <p:spPr>
          <a:xfrm>
            <a:off x="2117489" y="1417320"/>
            <a:ext cx="1349393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lang="en-US" sz="1100" b="1">
                <a:solidFill>
                  <a:srgbClr val="FFFFFF"/>
                </a:solidFill>
              </a:rPr>
              <a:t>Invoice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lang="en-US" sz="1100" b="1">
                <a:solidFill>
                  <a:srgbClr val="FFFFFF"/>
                </a:solidFill>
              </a:rPr>
              <a:t>Raised</a:t>
            </a:r>
          </a:p>
        </p:txBody>
      </p:sp>
      <p:cxnSp>
        <p:nvCxnSpPr>
          <p:cNvPr id="24" name="Connector 6"/>
          <p:cNvCxnSpPr/>
          <p:nvPr/>
        </p:nvCxnSpPr>
        <p:spPr>
          <a:xfrm>
            <a:off x="3530890" y="1700784"/>
            <a:ext cx="173736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4"/>
          <p:cNvSpPr/>
          <p:nvPr/>
        </p:nvSpPr>
        <p:spPr>
          <a:xfrm>
            <a:off x="3713770" y="1325880"/>
            <a:ext cx="1459121" cy="749808"/>
          </a:xfrm>
          <a:prstGeom prst="roundRect">
            <a:avLst/>
          </a:prstGeom>
          <a:solidFill>
            <a:srgbClr val="2D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5"/>
          <p:cNvSpPr txBox="1"/>
          <p:nvPr/>
        </p:nvSpPr>
        <p:spPr>
          <a:xfrm>
            <a:off x="3768634" y="1417320"/>
            <a:ext cx="1349393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lang="en-US" sz="1100" b="1">
                <a:solidFill>
                  <a:srgbClr val="FFFFFF"/>
                </a:solidFill>
              </a:rPr>
              <a:t>Sent to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lang="en-US" sz="1100" b="1">
                <a:solidFill>
                  <a:srgbClr val="FFFFFF"/>
                </a:solidFill>
              </a:rPr>
              <a:t>School</a:t>
            </a:r>
          </a:p>
        </p:txBody>
      </p:sp>
      <p:cxnSp>
        <p:nvCxnSpPr>
          <p:cNvPr id="27" name="Connector 6"/>
          <p:cNvCxnSpPr/>
          <p:nvPr/>
        </p:nvCxnSpPr>
        <p:spPr>
          <a:xfrm>
            <a:off x="5182035" y="1700784"/>
            <a:ext cx="173736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4"/>
          <p:cNvSpPr/>
          <p:nvPr/>
        </p:nvSpPr>
        <p:spPr>
          <a:xfrm>
            <a:off x="5364915" y="1325880"/>
            <a:ext cx="1459121" cy="749808"/>
          </a:xfrm>
          <a:prstGeom prst="roundRect">
            <a:avLst/>
          </a:prstGeom>
          <a:solidFill>
            <a:srgbClr val="28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5"/>
          <p:cNvSpPr txBox="1"/>
          <p:nvPr/>
        </p:nvSpPr>
        <p:spPr>
          <a:xfrm>
            <a:off x="5419779" y="1417320"/>
            <a:ext cx="1349393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lang="en-US" sz="1100" b="1">
                <a:solidFill>
                  <a:srgbClr val="FFFFFF"/>
                </a:solidFill>
              </a:rPr>
              <a:t>Due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lang="en-US" sz="1100" b="1">
                <a:solidFill>
                  <a:srgbClr val="FFFFFF"/>
                </a:solidFill>
              </a:rPr>
              <a:t>Date</a:t>
            </a:r>
          </a:p>
        </p:txBody>
      </p:sp>
      <p:cxnSp>
        <p:nvCxnSpPr>
          <p:cNvPr id="30" name="Connector 6"/>
          <p:cNvCxnSpPr/>
          <p:nvPr/>
        </p:nvCxnSpPr>
        <p:spPr>
          <a:xfrm>
            <a:off x="6833180" y="1700784"/>
            <a:ext cx="173736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4"/>
          <p:cNvSpPr/>
          <p:nvPr/>
        </p:nvSpPr>
        <p:spPr>
          <a:xfrm>
            <a:off x="7016060" y="1325880"/>
            <a:ext cx="1459121" cy="749808"/>
          </a:xfrm>
          <a:prstGeom prst="roundRect">
            <a:avLst/>
          </a:prstGeom>
          <a:solidFill>
            <a:srgbClr val="228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5"/>
          <p:cNvSpPr txBox="1"/>
          <p:nvPr/>
        </p:nvSpPr>
        <p:spPr>
          <a:xfrm>
            <a:off x="7070924" y="1417320"/>
            <a:ext cx="1349393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lang="en-US" sz="1100" b="1">
                <a:solidFill>
                  <a:srgbClr val="FFFFFF"/>
                </a:solidFill>
              </a:rPr>
              <a:t>Part / Full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lang="en-US" sz="1100" b="1">
                <a:solidFill>
                  <a:srgbClr val="FFFFFF"/>
                </a:solidFill>
              </a:rPr>
              <a:t>Payment</a:t>
            </a:r>
          </a:p>
        </p:txBody>
      </p:sp>
      <p:cxnSp>
        <p:nvCxnSpPr>
          <p:cNvPr id="33" name="Connector 6"/>
          <p:cNvCxnSpPr/>
          <p:nvPr/>
        </p:nvCxnSpPr>
        <p:spPr>
          <a:xfrm>
            <a:off x="8484325" y="1700784"/>
            <a:ext cx="173736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4"/>
          <p:cNvSpPr/>
          <p:nvPr/>
        </p:nvSpPr>
        <p:spPr>
          <a:xfrm>
            <a:off x="8667205" y="1325880"/>
            <a:ext cx="1459121" cy="749808"/>
          </a:xfrm>
          <a:prstGeom prst="roundRect">
            <a:avLst/>
          </a:prstGeom>
          <a:solidFill>
            <a:srgbClr val="DC8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5"/>
          <p:cNvSpPr txBox="1"/>
          <p:nvPr/>
        </p:nvSpPr>
        <p:spPr>
          <a:xfrm>
            <a:off x="8722069" y="1417320"/>
            <a:ext cx="1349393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lang="en-US" sz="1100" b="1">
                <a:solidFill>
                  <a:srgbClr val="FFFFFF"/>
                </a:solidFill>
              </a:rPr>
              <a:t>Overdue</a:t>
            </a:r>
          </a:p>
        </p:txBody>
      </p:sp>
      <p:cxnSp>
        <p:nvCxnSpPr>
          <p:cNvPr id="36" name="Connector 6"/>
          <p:cNvCxnSpPr/>
          <p:nvPr/>
        </p:nvCxnSpPr>
        <p:spPr>
          <a:xfrm>
            <a:off x="10135470" y="1700784"/>
            <a:ext cx="173736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4"/>
          <p:cNvSpPr/>
          <p:nvPr/>
        </p:nvSpPr>
        <p:spPr>
          <a:xfrm>
            <a:off x="10318350" y="1325880"/>
            <a:ext cx="1459121" cy="749808"/>
          </a:xfrm>
          <a:prstGeom prst="roundRect">
            <a:avLst/>
          </a:prstGeom>
          <a:solidFill>
            <a:srgbClr val="BE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5"/>
          <p:cNvSpPr txBox="1"/>
          <p:nvPr/>
        </p:nvSpPr>
        <p:spPr>
          <a:xfrm>
            <a:off x="10373214" y="1417320"/>
            <a:ext cx="1349393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lang="en-US" sz="1100" b="1">
                <a:solidFill>
                  <a:srgbClr val="FFFFFF"/>
                </a:solidFill>
              </a:rPr>
              <a:t>Follow-up &amp;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lang="en-US" sz="1100" b="1">
                <a:solidFill>
                  <a:srgbClr val="FFFFFF"/>
                </a:solidFill>
              </a:rPr>
              <a:t>Escalation</a:t>
            </a:r>
          </a:p>
        </p:txBody>
      </p:sp>
      <p:sp>
        <p:nvSpPr>
          <p:cNvPr id="39" name="Rounded Rectangle 4"/>
          <p:cNvSpPr/>
          <p:nvPr/>
        </p:nvSpPr>
        <p:spPr>
          <a:xfrm>
            <a:off x="594360" y="2377440"/>
            <a:ext cx="3840480" cy="3429000"/>
          </a:xfrm>
          <a:prstGeom prst="roundRect">
            <a:avLst/>
          </a:prstGeom>
          <a:solidFill>
            <a:srgbClr val="F1F5F9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5"/>
          <p:cNvSpPr/>
          <p:nvPr/>
        </p:nvSpPr>
        <p:spPr>
          <a:xfrm>
            <a:off x="594360" y="2377440"/>
            <a:ext cx="73152" cy="3429000"/>
          </a:xfrm>
          <a:prstGeom prst="rect">
            <a:avLst/>
          </a:prstGeom>
          <a:solidFill>
            <a:srgbClr val="2D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6"/>
          <p:cNvSpPr txBox="1"/>
          <p:nvPr/>
        </p:nvSpPr>
        <p:spPr>
          <a:xfrm>
            <a:off x="795528" y="2542032"/>
            <a:ext cx="3474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B48"/>
                </a:solidFill>
              </a:defRPr>
            </a:pPr>
            <a:r>
              <a:rPr lang="en-US" sz="1500" b="1">
                <a:solidFill>
                  <a:srgbClr val="182B48"/>
                </a:solidFill>
              </a:rPr>
              <a:t>Billing Basis</a:t>
            </a:r>
          </a:p>
        </p:txBody>
      </p:sp>
      <p:sp>
        <p:nvSpPr>
          <p:cNvPr id="42" name="TextBox 7"/>
          <p:cNvSpPr txBox="1"/>
          <p:nvPr/>
        </p:nvSpPr>
        <p:spPr>
          <a:xfrm>
            <a:off x="795528" y="2944368"/>
            <a:ext cx="3456432" cy="277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E293B"/>
                </a:solidFill>
              </a:defRPr>
            </a:pPr>
            <a:r>
              <a:rPr lang="en-US" sz="1400">
                <a:solidFill>
                  <a:srgbClr val="1E293B"/>
                </a:solidFill>
              </a:rPr>
              <a:t>• Fee terms captured from the MoU (per teacher / month, per term or annual)</a:t>
            </a:r>
          </a:p>
          <a:p>
            <a:pPr>
              <a:spcAft>
                <a:spcPts val="900"/>
              </a:spcAft>
              <a:defRPr sz="1400">
                <a:solidFill>
                  <a:srgbClr val="1E293B"/>
                </a:solidFill>
              </a:defRPr>
            </a:pPr>
            <a:r>
              <a:rPr lang="en-US" sz="1400">
                <a:solidFill>
                  <a:srgbClr val="1E293B"/>
                </a:solidFill>
              </a:rPr>
              <a:t>• Invoice derived from active teacher assignments in the period</a:t>
            </a:r>
          </a:p>
          <a:p>
            <a:pPr>
              <a:spcAft>
                <a:spcPts val="900"/>
              </a:spcAft>
              <a:defRPr sz="1400">
                <a:solidFill>
                  <a:srgbClr val="1E293B"/>
                </a:solidFill>
              </a:defRPr>
            </a:pPr>
            <a:r>
              <a:rPr lang="en-US" sz="1400">
                <a:solidFill>
                  <a:srgbClr val="1E293B"/>
                </a:solidFill>
              </a:rPr>
              <a:t>• Replacements and substitutes keep billing continuous</a:t>
            </a:r>
          </a:p>
          <a:p>
            <a:pPr>
              <a:spcAft>
                <a:spcPts val="900"/>
              </a:spcAft>
              <a:defRPr sz="1400">
                <a:solidFill>
                  <a:srgbClr val="1E293B"/>
                </a:solidFill>
              </a:defRPr>
            </a:pPr>
            <a:r>
              <a:rPr lang="en-US" sz="1400">
                <a:solidFill>
                  <a:srgbClr val="1E293B"/>
                </a:solidFill>
              </a:rPr>
              <a:t>• Credit notes for agreed deductions</a:t>
            </a:r>
          </a:p>
        </p:txBody>
      </p:sp>
      <p:sp>
        <p:nvSpPr>
          <p:cNvPr id="43" name="Rounded Rectangle 4"/>
          <p:cNvSpPr/>
          <p:nvPr/>
        </p:nvSpPr>
        <p:spPr>
          <a:xfrm>
            <a:off x="4617720" y="2377440"/>
            <a:ext cx="3840480" cy="3429000"/>
          </a:xfrm>
          <a:prstGeom prst="roundRect">
            <a:avLst/>
          </a:prstGeom>
          <a:solidFill>
            <a:srgbClr val="F1F5F9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5"/>
          <p:cNvSpPr/>
          <p:nvPr/>
        </p:nvSpPr>
        <p:spPr>
          <a:xfrm>
            <a:off x="4617720" y="2377440"/>
            <a:ext cx="73152" cy="3429000"/>
          </a:xfrm>
          <a:prstGeom prst="rect">
            <a:avLst/>
          </a:prstGeom>
          <a:solidFill>
            <a:srgbClr val="28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6"/>
          <p:cNvSpPr txBox="1"/>
          <p:nvPr/>
        </p:nvSpPr>
        <p:spPr>
          <a:xfrm>
            <a:off x="4818888" y="2542032"/>
            <a:ext cx="3474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B48"/>
                </a:solidFill>
              </a:defRPr>
            </a:pPr>
            <a:r>
              <a:rPr lang="en-US" sz="1500" b="1">
                <a:solidFill>
                  <a:srgbClr val="182B48"/>
                </a:solidFill>
              </a:rPr>
              <a:t>Collection Tracking</a:t>
            </a:r>
          </a:p>
        </p:txBody>
      </p:sp>
      <p:sp>
        <p:nvSpPr>
          <p:cNvPr id="46" name="TextBox 7"/>
          <p:cNvSpPr txBox="1"/>
          <p:nvPr/>
        </p:nvSpPr>
        <p:spPr>
          <a:xfrm>
            <a:off x="4818888" y="2944368"/>
            <a:ext cx="3456432" cy="277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E293B"/>
                </a:solidFill>
              </a:defRPr>
            </a:pPr>
            <a:r>
              <a:rPr lang="en-US" sz="1400">
                <a:solidFill>
                  <a:srgbClr val="1E293B"/>
                </a:solidFill>
              </a:rPr>
              <a:t>• Amount, date, mode and reference for each receipt</a:t>
            </a:r>
          </a:p>
          <a:p>
            <a:pPr>
              <a:spcAft>
                <a:spcPts val="900"/>
              </a:spcAft>
              <a:defRPr sz="1400">
                <a:solidFill>
                  <a:srgbClr val="1E293B"/>
                </a:solidFill>
              </a:defRPr>
            </a:pPr>
            <a:r>
              <a:rPr lang="en-US" sz="1400">
                <a:solidFill>
                  <a:srgbClr val="1E293B"/>
                </a:solidFill>
              </a:rPr>
              <a:t>• Partial payments allocated against invoices</a:t>
            </a:r>
          </a:p>
          <a:p>
            <a:pPr>
              <a:spcAft>
                <a:spcPts val="900"/>
              </a:spcAft>
              <a:defRPr sz="1400">
                <a:solidFill>
                  <a:srgbClr val="1E293B"/>
                </a:solidFill>
              </a:defRPr>
            </a:pPr>
            <a:r>
              <a:rPr lang="en-US" sz="1400">
                <a:solidFill>
                  <a:srgbClr val="1E293B"/>
                </a:solidFill>
              </a:rPr>
              <a:t>• Overdue invoice creates a follow-up task for the school's manager</a:t>
            </a:r>
          </a:p>
          <a:p>
            <a:pPr>
              <a:spcAft>
                <a:spcPts val="900"/>
              </a:spcAft>
              <a:defRPr sz="1400">
                <a:solidFill>
                  <a:srgbClr val="1E293B"/>
                </a:solidFill>
              </a:defRPr>
            </a:pPr>
            <a:r>
              <a:rPr lang="en-US" sz="1400">
                <a:solidFill>
                  <a:srgbClr val="1E293B"/>
                </a:solidFill>
              </a:rPr>
              <a:t>• Escalation to the Director after defined days</a:t>
            </a:r>
          </a:p>
        </p:txBody>
      </p:sp>
      <p:sp>
        <p:nvSpPr>
          <p:cNvPr id="47" name="Rounded Rectangle 4"/>
          <p:cNvSpPr/>
          <p:nvPr/>
        </p:nvSpPr>
        <p:spPr>
          <a:xfrm>
            <a:off x="8641080" y="2377440"/>
            <a:ext cx="2971800" cy="3429000"/>
          </a:xfrm>
          <a:prstGeom prst="roundRect">
            <a:avLst/>
          </a:prstGeom>
          <a:solidFill>
            <a:srgbClr val="F1F5F9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6"/>
          <p:cNvSpPr txBox="1"/>
          <p:nvPr/>
        </p:nvSpPr>
        <p:spPr>
          <a:xfrm>
            <a:off x="8823960" y="2542032"/>
            <a:ext cx="26517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B48"/>
                </a:solidFill>
              </a:defRPr>
            </a:pPr>
            <a:r>
              <a:rPr lang="en-US" sz="1500" b="1">
                <a:solidFill>
                  <a:srgbClr val="182B48"/>
                </a:solidFill>
              </a:rPr>
              <a:t>Outstanding Ageing</a:t>
            </a:r>
          </a:p>
        </p:txBody>
      </p:sp>
      <p:sp>
        <p:nvSpPr>
          <p:cNvPr id="49" name="Rounded Rectangle 4"/>
          <p:cNvSpPr/>
          <p:nvPr/>
        </p:nvSpPr>
        <p:spPr>
          <a:xfrm>
            <a:off x="8823960" y="3035808"/>
            <a:ext cx="2606040" cy="438912"/>
          </a:xfrm>
          <a:prstGeom prst="roundRect">
            <a:avLst/>
          </a:prstGeom>
          <a:solidFill>
            <a:srgbClr val="228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5"/>
          <p:cNvSpPr txBox="1"/>
          <p:nvPr/>
        </p:nvSpPr>
        <p:spPr>
          <a:xfrm>
            <a:off x="8869680" y="3099816"/>
            <a:ext cx="25146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lang="en-US" sz="1200" b="1">
                <a:solidFill>
                  <a:srgbClr val="FFFFFF"/>
                </a:solidFill>
              </a:rPr>
              <a:t>0 – 30 days</a:t>
            </a:r>
          </a:p>
        </p:txBody>
      </p:sp>
      <p:sp>
        <p:nvSpPr>
          <p:cNvPr id="51" name="Rounded Rectangle 4"/>
          <p:cNvSpPr/>
          <p:nvPr/>
        </p:nvSpPr>
        <p:spPr>
          <a:xfrm>
            <a:off x="8823960" y="3602736"/>
            <a:ext cx="2606040" cy="438912"/>
          </a:xfrm>
          <a:prstGeom prst="roundRect">
            <a:avLst/>
          </a:prstGeom>
          <a:solidFill>
            <a:srgbClr val="28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"/>
          <p:cNvSpPr txBox="1"/>
          <p:nvPr/>
        </p:nvSpPr>
        <p:spPr>
          <a:xfrm>
            <a:off x="8869680" y="3666744"/>
            <a:ext cx="25146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lang="en-US" sz="1200" b="1">
                <a:solidFill>
                  <a:srgbClr val="FFFFFF"/>
                </a:solidFill>
              </a:rPr>
              <a:t>31 – 60 days</a:t>
            </a:r>
          </a:p>
        </p:txBody>
      </p:sp>
      <p:sp>
        <p:nvSpPr>
          <p:cNvPr id="53" name="Rounded Rectangle 4"/>
          <p:cNvSpPr/>
          <p:nvPr/>
        </p:nvSpPr>
        <p:spPr>
          <a:xfrm>
            <a:off x="8823960" y="4169664"/>
            <a:ext cx="2606040" cy="438912"/>
          </a:xfrm>
          <a:prstGeom prst="roundRect">
            <a:avLst/>
          </a:prstGeom>
          <a:solidFill>
            <a:srgbClr val="DC8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"/>
          <p:cNvSpPr txBox="1"/>
          <p:nvPr/>
        </p:nvSpPr>
        <p:spPr>
          <a:xfrm>
            <a:off x="8869680" y="4233672"/>
            <a:ext cx="25146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lang="en-US" sz="1200" b="1">
                <a:solidFill>
                  <a:srgbClr val="FFFFFF"/>
                </a:solidFill>
              </a:rPr>
              <a:t>61 – 90 days</a:t>
            </a:r>
          </a:p>
        </p:txBody>
      </p:sp>
      <p:sp>
        <p:nvSpPr>
          <p:cNvPr id="55" name="Rounded Rectangle 4"/>
          <p:cNvSpPr/>
          <p:nvPr/>
        </p:nvSpPr>
        <p:spPr>
          <a:xfrm>
            <a:off x="8823960" y="4736592"/>
            <a:ext cx="2606040" cy="438912"/>
          </a:xfrm>
          <a:prstGeom prst="roundRect">
            <a:avLst/>
          </a:prstGeom>
          <a:solidFill>
            <a:srgbClr val="BE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"/>
          <p:cNvSpPr txBox="1"/>
          <p:nvPr/>
        </p:nvSpPr>
        <p:spPr>
          <a:xfrm>
            <a:off x="8869680" y="4800600"/>
            <a:ext cx="25146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lang="en-US" sz="1200" b="1">
                <a:solidFill>
                  <a:srgbClr val="FFFFFF"/>
                </a:solidFill>
              </a:rPr>
              <a:t>90+ days</a:t>
            </a:r>
          </a:p>
        </p:txBody>
      </p:sp>
      <p:sp>
        <p:nvSpPr>
          <p:cNvPr id="57" name="TextBox 7"/>
          <p:cNvSpPr txBox="1"/>
          <p:nvPr/>
        </p:nvSpPr>
        <p:spPr>
          <a:xfrm>
            <a:off x="8823960" y="532180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rPr lang="en-US" sz="1100">
                <a:solidFill>
                  <a:srgbClr val="64748B"/>
                </a:solidFill>
              </a:rPr>
              <a:t>By school, area and manager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B48"/>
                </a:solidFill>
              </a:defRPr>
            </a:pPr>
            <a:r>
              <a:rPr lang="en-US" sz="2700" b="1">
                <a:solidFill>
                  <a:srgbClr val="182B48"/>
                </a:solidFill>
              </a:rPr>
              <a:t>How the new modules connect to operations</a:t>
            </a:r>
          </a:p>
        </p:txBody>
      </p:sp>
      <p:sp>
        <p:nvSpPr>
          <p:cNvPr id="5" name="TextBox 3"/>
          <p:cNvSpPr txBox="1"/>
          <p:nvPr/>
        </p:nvSpPr>
        <p:spPr>
          <a:xfrm>
            <a:off x="621792" y="9144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rPr lang="en-US" sz="1200">
                <a:solidFill>
                  <a:srgbClr val="64748B"/>
                </a:solidFill>
              </a:rPr>
              <a:t>Finance modules reuse operational data instead of asking managers to report it twice.</a:t>
            </a:r>
          </a:p>
        </p:txBody>
      </p:sp>
      <p:sp>
        <p:nvSpPr>
          <p:cNvPr id="18" name="TextBox 16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rPr lang="en-US" sz="800">
                <a:solidFill>
                  <a:srgbClr val="64748B"/>
                </a:solidFill>
              </a:rPr>
              <a:t>Operations Management System  |  Director Overview  |  13</a:t>
            </a:r>
          </a:p>
        </p:txBody>
      </p:sp>
      <p:sp>
        <p:nvSpPr>
          <p:cNvPr id="19" name="Rounded Rectangle 4"/>
          <p:cNvSpPr/>
          <p:nvPr/>
        </p:nvSpPr>
        <p:spPr>
          <a:xfrm>
            <a:off x="594360" y="1371600"/>
            <a:ext cx="2651760" cy="548640"/>
          </a:xfrm>
          <a:prstGeom prst="roundRect">
            <a:avLst/>
          </a:prstGeom>
          <a:solidFill>
            <a:srgbClr val="2D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5"/>
          <p:cNvSpPr txBox="1"/>
          <p:nvPr/>
        </p:nvSpPr>
        <p:spPr>
          <a:xfrm>
            <a:off x="640080" y="1481328"/>
            <a:ext cx="2560320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lang="en-US" sz="1200" b="1">
                <a:solidFill>
                  <a:srgbClr val="FFFFFF"/>
                </a:solidFill>
              </a:rPr>
              <a:t>Teacher absence</a:t>
            </a:r>
          </a:p>
        </p:txBody>
      </p:sp>
      <p:cxnSp>
        <p:nvCxnSpPr>
          <p:cNvPr id="21" name="Connector 6"/>
          <p:cNvCxnSpPr/>
          <p:nvPr/>
        </p:nvCxnSpPr>
        <p:spPr>
          <a:xfrm>
            <a:off x="3291840" y="1645920"/>
            <a:ext cx="411480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4"/>
          <p:cNvSpPr/>
          <p:nvPr/>
        </p:nvSpPr>
        <p:spPr>
          <a:xfrm>
            <a:off x="3749039" y="1371600"/>
            <a:ext cx="3291840" cy="548640"/>
          </a:xfrm>
          <a:prstGeom prst="roundRect">
            <a:avLst/>
          </a:prstGeom>
          <a:solidFill>
            <a:srgbClr val="F1F5F9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7"/>
          <p:cNvSpPr txBox="1"/>
          <p:nvPr/>
        </p:nvSpPr>
        <p:spPr>
          <a:xfrm>
            <a:off x="3886200" y="1481328"/>
            <a:ext cx="3063240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defRPr sz="1200">
                <a:solidFill>
                  <a:srgbClr val="1E293B"/>
                </a:solidFill>
              </a:defRPr>
            </a:pPr>
            <a:r>
              <a:rPr lang="en-US" sz="1200">
                <a:solidFill>
                  <a:srgbClr val="1E293B"/>
                </a:solidFill>
              </a:rPr>
              <a:t>Substitution request + LOP in payroll</a:t>
            </a:r>
          </a:p>
        </p:txBody>
      </p:sp>
      <p:sp>
        <p:nvSpPr>
          <p:cNvPr id="24" name="Rounded Rectangle 4"/>
          <p:cNvSpPr/>
          <p:nvPr/>
        </p:nvSpPr>
        <p:spPr>
          <a:xfrm>
            <a:off x="594360" y="2103120"/>
            <a:ext cx="2651760" cy="548640"/>
          </a:xfrm>
          <a:prstGeom prst="roundRect">
            <a:avLst/>
          </a:prstGeom>
          <a:solidFill>
            <a:srgbClr val="28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5"/>
          <p:cNvSpPr txBox="1"/>
          <p:nvPr/>
        </p:nvSpPr>
        <p:spPr>
          <a:xfrm>
            <a:off x="640080" y="2212848"/>
            <a:ext cx="2560320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lang="en-US" sz="1200" b="1">
                <a:solidFill>
                  <a:srgbClr val="FFFFFF"/>
                </a:solidFill>
              </a:rPr>
              <a:t>Monthly attendance lock</a:t>
            </a:r>
          </a:p>
        </p:txBody>
      </p:sp>
      <p:cxnSp>
        <p:nvCxnSpPr>
          <p:cNvPr id="26" name="Connector 6"/>
          <p:cNvCxnSpPr/>
          <p:nvPr/>
        </p:nvCxnSpPr>
        <p:spPr>
          <a:xfrm>
            <a:off x="3291840" y="2377440"/>
            <a:ext cx="411480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4"/>
          <p:cNvSpPr/>
          <p:nvPr/>
        </p:nvSpPr>
        <p:spPr>
          <a:xfrm>
            <a:off x="3749039" y="2103120"/>
            <a:ext cx="3291840" cy="548640"/>
          </a:xfrm>
          <a:prstGeom prst="roundRect">
            <a:avLst/>
          </a:prstGeom>
          <a:solidFill>
            <a:srgbClr val="F1F5F9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7"/>
          <p:cNvSpPr txBox="1"/>
          <p:nvPr/>
        </p:nvSpPr>
        <p:spPr>
          <a:xfrm>
            <a:off x="3886200" y="2212848"/>
            <a:ext cx="3063240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defRPr sz="1200">
                <a:solidFill>
                  <a:srgbClr val="1E293B"/>
                </a:solidFill>
              </a:defRPr>
            </a:pPr>
            <a:r>
              <a:rPr lang="en-US" sz="1200">
                <a:solidFill>
                  <a:srgbClr val="1E293B"/>
                </a:solidFill>
              </a:rPr>
              <a:t>Payroll run</a:t>
            </a:r>
          </a:p>
        </p:txBody>
      </p:sp>
      <p:sp>
        <p:nvSpPr>
          <p:cNvPr id="29" name="Rounded Rectangle 4"/>
          <p:cNvSpPr/>
          <p:nvPr/>
        </p:nvSpPr>
        <p:spPr>
          <a:xfrm>
            <a:off x="594360" y="2834640"/>
            <a:ext cx="2651760" cy="548640"/>
          </a:xfrm>
          <a:prstGeom prst="roundRect">
            <a:avLst/>
          </a:prstGeom>
          <a:solidFill>
            <a:srgbClr val="228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5"/>
          <p:cNvSpPr txBox="1"/>
          <p:nvPr/>
        </p:nvSpPr>
        <p:spPr>
          <a:xfrm>
            <a:off x="640080" y="2944368"/>
            <a:ext cx="2560320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lang="en-US" sz="1200" b="1">
                <a:solidFill>
                  <a:srgbClr val="FFFFFF"/>
                </a:solidFill>
              </a:rPr>
              <a:t>School closure verified</a:t>
            </a:r>
          </a:p>
        </p:txBody>
      </p:sp>
      <p:cxnSp>
        <p:nvCxnSpPr>
          <p:cNvPr id="31" name="Connector 6"/>
          <p:cNvCxnSpPr/>
          <p:nvPr/>
        </p:nvCxnSpPr>
        <p:spPr>
          <a:xfrm>
            <a:off x="3291840" y="3108960"/>
            <a:ext cx="411480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4"/>
          <p:cNvSpPr/>
          <p:nvPr/>
        </p:nvSpPr>
        <p:spPr>
          <a:xfrm>
            <a:off x="3749039" y="2834640"/>
            <a:ext cx="3291840" cy="548640"/>
          </a:xfrm>
          <a:prstGeom prst="roundRect">
            <a:avLst/>
          </a:prstGeom>
          <a:solidFill>
            <a:srgbClr val="F1F5F9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7"/>
          <p:cNvSpPr txBox="1"/>
          <p:nvPr/>
        </p:nvSpPr>
        <p:spPr>
          <a:xfrm>
            <a:off x="3886200" y="2944368"/>
            <a:ext cx="3063240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defRPr sz="1200">
                <a:solidFill>
                  <a:srgbClr val="1E293B"/>
                </a:solidFill>
              </a:defRPr>
            </a:pPr>
            <a:r>
              <a:rPr lang="en-US" sz="1200">
                <a:solidFill>
                  <a:srgbClr val="1E293B"/>
                </a:solidFill>
              </a:rPr>
              <a:t>₹5,000 incentive → manager payroll</a:t>
            </a:r>
          </a:p>
        </p:txBody>
      </p:sp>
      <p:sp>
        <p:nvSpPr>
          <p:cNvPr id="34" name="Rounded Rectangle 4"/>
          <p:cNvSpPr/>
          <p:nvPr/>
        </p:nvSpPr>
        <p:spPr>
          <a:xfrm>
            <a:off x="594360" y="3566160"/>
            <a:ext cx="2651760" cy="548640"/>
          </a:xfrm>
          <a:prstGeom prst="roundRect">
            <a:avLst/>
          </a:prstGeom>
          <a:solidFill>
            <a:srgbClr val="DC8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5"/>
          <p:cNvSpPr txBox="1"/>
          <p:nvPr/>
        </p:nvSpPr>
        <p:spPr>
          <a:xfrm>
            <a:off x="640080" y="3675888"/>
            <a:ext cx="2560320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lang="en-US" sz="1200" b="1">
                <a:solidFill>
                  <a:srgbClr val="FFFFFF"/>
                </a:solidFill>
              </a:rPr>
              <a:t>School visit / college drive</a:t>
            </a:r>
          </a:p>
        </p:txBody>
      </p:sp>
      <p:cxnSp>
        <p:nvCxnSpPr>
          <p:cNvPr id="36" name="Connector 6"/>
          <p:cNvCxnSpPr/>
          <p:nvPr/>
        </p:nvCxnSpPr>
        <p:spPr>
          <a:xfrm>
            <a:off x="3291840" y="3840480"/>
            <a:ext cx="411480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4"/>
          <p:cNvSpPr/>
          <p:nvPr/>
        </p:nvSpPr>
        <p:spPr>
          <a:xfrm>
            <a:off x="3749039" y="3566160"/>
            <a:ext cx="3291840" cy="548640"/>
          </a:xfrm>
          <a:prstGeom prst="roundRect">
            <a:avLst/>
          </a:prstGeom>
          <a:solidFill>
            <a:srgbClr val="F1F5F9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7"/>
          <p:cNvSpPr txBox="1"/>
          <p:nvPr/>
        </p:nvSpPr>
        <p:spPr>
          <a:xfrm>
            <a:off x="3886200" y="3675888"/>
            <a:ext cx="3063240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defRPr sz="1200">
                <a:solidFill>
                  <a:srgbClr val="1E293B"/>
                </a:solidFill>
              </a:defRPr>
            </a:pPr>
            <a:r>
              <a:rPr lang="en-US" sz="1200">
                <a:solidFill>
                  <a:srgbClr val="1E293B"/>
                </a:solidFill>
              </a:rPr>
              <a:t>Travel expense claim</a:t>
            </a:r>
          </a:p>
        </p:txBody>
      </p:sp>
      <p:sp>
        <p:nvSpPr>
          <p:cNvPr id="39" name="Rounded Rectangle 4"/>
          <p:cNvSpPr/>
          <p:nvPr/>
        </p:nvSpPr>
        <p:spPr>
          <a:xfrm>
            <a:off x="594360" y="4297680"/>
            <a:ext cx="2651760" cy="548640"/>
          </a:xfrm>
          <a:prstGeom prst="roundRect">
            <a:avLst/>
          </a:prstGeom>
          <a:solidFill>
            <a:srgbClr val="18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5"/>
          <p:cNvSpPr txBox="1"/>
          <p:nvPr/>
        </p:nvSpPr>
        <p:spPr>
          <a:xfrm>
            <a:off x="640080" y="4407408"/>
            <a:ext cx="2560320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lang="en-US" sz="1200" b="1">
                <a:solidFill>
                  <a:srgbClr val="FFFFFF"/>
                </a:solidFill>
              </a:rPr>
              <a:t>MoU fee terms + assignments</a:t>
            </a:r>
          </a:p>
        </p:txBody>
      </p:sp>
      <p:cxnSp>
        <p:nvCxnSpPr>
          <p:cNvPr id="41" name="Connector 6"/>
          <p:cNvCxnSpPr/>
          <p:nvPr/>
        </p:nvCxnSpPr>
        <p:spPr>
          <a:xfrm>
            <a:off x="3291840" y="4572000"/>
            <a:ext cx="411480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"/>
          <p:cNvSpPr/>
          <p:nvPr/>
        </p:nvSpPr>
        <p:spPr>
          <a:xfrm>
            <a:off x="3749039" y="4297680"/>
            <a:ext cx="3291840" cy="548640"/>
          </a:xfrm>
          <a:prstGeom prst="roundRect">
            <a:avLst/>
          </a:prstGeom>
          <a:solidFill>
            <a:srgbClr val="F1F5F9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7"/>
          <p:cNvSpPr txBox="1"/>
          <p:nvPr/>
        </p:nvSpPr>
        <p:spPr>
          <a:xfrm>
            <a:off x="3886200" y="4407408"/>
            <a:ext cx="3063240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defRPr sz="1200">
                <a:solidFill>
                  <a:srgbClr val="1E293B"/>
                </a:solidFill>
              </a:defRPr>
            </a:pPr>
            <a:r>
              <a:rPr lang="en-US" sz="1200">
                <a:solidFill>
                  <a:srgbClr val="1E293B"/>
                </a:solidFill>
              </a:rPr>
              <a:t>School invoice</a:t>
            </a:r>
          </a:p>
        </p:txBody>
      </p:sp>
      <p:sp>
        <p:nvSpPr>
          <p:cNvPr id="44" name="Rounded Rectangle 4"/>
          <p:cNvSpPr/>
          <p:nvPr/>
        </p:nvSpPr>
        <p:spPr>
          <a:xfrm>
            <a:off x="594360" y="5029200"/>
            <a:ext cx="2651760" cy="548640"/>
          </a:xfrm>
          <a:prstGeom prst="roundRect">
            <a:avLst/>
          </a:prstGeom>
          <a:solidFill>
            <a:srgbClr val="BE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5"/>
          <p:cNvSpPr txBox="1"/>
          <p:nvPr/>
        </p:nvSpPr>
        <p:spPr>
          <a:xfrm>
            <a:off x="640080" y="5138928"/>
            <a:ext cx="2560320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lang="en-US" sz="1200" b="1">
                <a:solidFill>
                  <a:srgbClr val="FFFFFF"/>
                </a:solidFill>
              </a:rPr>
              <a:t>Invoice overdue</a:t>
            </a:r>
          </a:p>
        </p:txBody>
      </p:sp>
      <p:cxnSp>
        <p:nvCxnSpPr>
          <p:cNvPr id="46" name="Connector 6"/>
          <p:cNvCxnSpPr/>
          <p:nvPr/>
        </p:nvCxnSpPr>
        <p:spPr>
          <a:xfrm>
            <a:off x="3291840" y="5303520"/>
            <a:ext cx="411480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"/>
          <p:cNvSpPr/>
          <p:nvPr/>
        </p:nvSpPr>
        <p:spPr>
          <a:xfrm>
            <a:off x="3749039" y="5029200"/>
            <a:ext cx="3291840" cy="548640"/>
          </a:xfrm>
          <a:prstGeom prst="roundRect">
            <a:avLst/>
          </a:prstGeom>
          <a:solidFill>
            <a:srgbClr val="F1F5F9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7"/>
          <p:cNvSpPr txBox="1"/>
          <p:nvPr/>
        </p:nvSpPr>
        <p:spPr>
          <a:xfrm>
            <a:off x="3886200" y="5138928"/>
            <a:ext cx="3063240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defRPr sz="1200">
                <a:solidFill>
                  <a:srgbClr val="1E293B"/>
                </a:solidFill>
              </a:defRPr>
            </a:pPr>
            <a:r>
              <a:rPr lang="en-US" sz="1200">
                <a:solidFill>
                  <a:srgbClr val="1E293B"/>
                </a:solidFill>
              </a:rPr>
              <a:t>Manager follow-up task → escalation</a:t>
            </a:r>
          </a:p>
        </p:txBody>
      </p:sp>
      <p:sp>
        <p:nvSpPr>
          <p:cNvPr id="49" name="Rounded Rectangle 4"/>
          <p:cNvSpPr/>
          <p:nvPr/>
        </p:nvSpPr>
        <p:spPr>
          <a:xfrm>
            <a:off x="7315200" y="1371600"/>
            <a:ext cx="4297680" cy="4206240"/>
          </a:xfrm>
          <a:prstGeom prst="roundRect">
            <a:avLst/>
          </a:prstGeom>
          <a:solidFill>
            <a:srgbClr val="F1F5F9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5"/>
          <p:cNvSpPr/>
          <p:nvPr/>
        </p:nvSpPr>
        <p:spPr>
          <a:xfrm>
            <a:off x="7315200" y="1371600"/>
            <a:ext cx="73152" cy="4206240"/>
          </a:xfrm>
          <a:prstGeom prst="rect">
            <a:avLst/>
          </a:prstGeom>
          <a:solidFill>
            <a:srgbClr val="DC8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6"/>
          <p:cNvSpPr txBox="1"/>
          <p:nvPr/>
        </p:nvSpPr>
        <p:spPr>
          <a:xfrm>
            <a:off x="7516368" y="1536192"/>
            <a:ext cx="3931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B48"/>
                </a:solidFill>
              </a:defRPr>
            </a:pPr>
            <a:r>
              <a:rPr lang="en-US" sz="1500" b="1">
                <a:solidFill>
                  <a:srgbClr val="182B48"/>
                </a:solidFill>
              </a:rPr>
              <a:t>To confirm before build</a:t>
            </a:r>
          </a:p>
        </p:txBody>
      </p:sp>
      <p:sp>
        <p:nvSpPr>
          <p:cNvPr id="52" name="TextBox 7"/>
          <p:cNvSpPr txBox="1"/>
          <p:nvPr/>
        </p:nvSpPr>
        <p:spPr>
          <a:xfrm>
            <a:off x="7516368" y="1938528"/>
            <a:ext cx="3913632" cy="3547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rPr lang="en-US" sz="1400">
                <a:solidFill>
                  <a:srgbClr val="1E293B"/>
                </a:solidFill>
              </a:rPr>
              <a:t>• Salary structure and LOP policy per designation</a:t>
            </a:r>
          </a:p>
          <a:p>
            <a:pPr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rPr lang="en-US" sz="1400">
                <a:solidFill>
                  <a:srgbClr val="1E293B"/>
                </a:solidFill>
              </a:rPr>
              <a:t>• School fee model and whether GST invoices are needed</a:t>
            </a:r>
          </a:p>
          <a:p>
            <a:pPr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rPr lang="en-US" sz="1400">
                <a:solidFill>
                  <a:srgbClr val="1E293B"/>
                </a:solidFill>
              </a:rPr>
              <a:t>• Expense approval limits and approvers</a:t>
            </a:r>
          </a:p>
          <a:p>
            <a:pPr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rPr lang="en-US" sz="1400">
                <a:solidFill>
                  <a:srgbClr val="1E293B"/>
                </a:solidFill>
              </a:rPr>
              <a:t>• Incentive paid on MoU, or on first school payment?</a:t>
            </a:r>
          </a:p>
          <a:p>
            <a:pPr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rPr lang="en-US" sz="1400">
                <a:solidFill>
                  <a:srgbClr val="1E293B"/>
                </a:solidFill>
              </a:rPr>
              <a:t>• Payroll in-system, or export to the accountant?</a:t>
            </a:r>
          </a:p>
          <a:p>
            <a:pPr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rPr lang="en-US" sz="1400">
                <a:solidFill>
                  <a:srgbClr val="1E293B"/>
                </a:solidFill>
              </a:rPr>
              <a:t>• Teacher self check-in vs manager-marked attendance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B48"/>
                </a:solidFill>
              </a:defRPr>
            </a:pPr>
            <a:r>
              <a:rPr lang="en-US" sz="2700" b="1">
                <a:solidFill>
                  <a:srgbClr val="182B48"/>
                </a:solidFill>
              </a:rPr>
              <a:t>Management Dashboard — one screen for the Director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rPr lang="en-US" sz="1200">
                <a:solidFill>
                  <a:srgbClr val="64748B"/>
                </a:solidFill>
              </a:rPr>
              <a:t>The objective is to replace fragmented updates with centralized operational visibility.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71600"/>
            <a:ext cx="2578608" cy="1493520"/>
          </a:xfrm>
          <a:prstGeom prst="roundRect">
            <a:avLst/>
          </a:prstGeom>
          <a:solidFill>
            <a:srgbClr val="F1F5F9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371600"/>
            <a:ext cx="73152" cy="1493520"/>
          </a:xfrm>
          <a:prstGeom prst="rect">
            <a:avLst/>
          </a:prstGeom>
          <a:solidFill>
            <a:srgbClr val="2D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8" y="1536192"/>
            <a:ext cx="221284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B48"/>
                </a:solidFill>
              </a:defRPr>
            </a:pPr>
            <a:r>
              <a:rPr lang="en-US" sz="1500" b="1">
                <a:solidFill>
                  <a:srgbClr val="182B48"/>
                </a:solidFill>
              </a:rPr>
              <a:t>Managers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1938528"/>
            <a:ext cx="2194560" cy="835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E293B"/>
                </a:solidFill>
              </a:defRPr>
            </a:pPr>
            <a:r>
              <a:rPr lang="en-US" sz="1150">
                <a:solidFill>
                  <a:srgbClr val="1E293B"/>
                </a:solidFill>
              </a:rPr>
              <a:t>Today’s tasks • visits • pending • overdue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7288" y="1371600"/>
            <a:ext cx="2578608" cy="1493520"/>
          </a:xfrm>
          <a:prstGeom prst="roundRect">
            <a:avLst/>
          </a:prstGeom>
          <a:solidFill>
            <a:srgbClr val="F1F5F9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447288" y="1371600"/>
            <a:ext cx="73152" cy="1493520"/>
          </a:xfrm>
          <a:prstGeom prst="rect">
            <a:avLst/>
          </a:prstGeom>
          <a:solidFill>
            <a:srgbClr val="28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48456" y="1536192"/>
            <a:ext cx="221284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B48"/>
                </a:solidFill>
              </a:defRPr>
            </a:pPr>
            <a:r>
              <a:rPr lang="en-US" sz="1500" b="1">
                <a:solidFill>
                  <a:srgbClr val="182B48"/>
                </a:solidFill>
              </a:rPr>
              <a:t>Schools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48456" y="1938528"/>
            <a:ext cx="2194560" cy="835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E293B"/>
                </a:solidFill>
              </a:defRPr>
            </a:pPr>
            <a:r>
              <a:rPr lang="en-US" sz="1150">
                <a:solidFill>
                  <a:srgbClr val="1E293B"/>
                </a:solidFill>
              </a:rPr>
              <a:t>Prospects • visits • follow-ups • MoUs • active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0216" y="1371600"/>
            <a:ext cx="2578608" cy="1493520"/>
          </a:xfrm>
          <a:prstGeom prst="roundRect">
            <a:avLst/>
          </a:prstGeom>
          <a:solidFill>
            <a:srgbClr val="F1F5F9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300216" y="1371600"/>
            <a:ext cx="73152" cy="1493520"/>
          </a:xfrm>
          <a:prstGeom prst="rect">
            <a:avLst/>
          </a:prstGeom>
          <a:solidFill>
            <a:srgbClr val="DC8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01384" y="1536192"/>
            <a:ext cx="221284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B48"/>
                </a:solidFill>
              </a:defRPr>
            </a:pPr>
            <a:r>
              <a:rPr lang="en-US" sz="1500" b="1">
                <a:solidFill>
                  <a:srgbClr val="182B48"/>
                </a:solidFill>
              </a:rPr>
              <a:t>Recruitment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1384" y="1938528"/>
            <a:ext cx="2194560" cy="835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E293B"/>
                </a:solidFill>
              </a:defRPr>
            </a:pPr>
            <a:r>
              <a:rPr lang="en-US" sz="1150">
                <a:solidFill>
                  <a:srgbClr val="1E293B"/>
                </a:solidFill>
              </a:rPr>
              <a:t>Candidates • selected • offers • training • joining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53144" y="1371600"/>
            <a:ext cx="2578608" cy="1493520"/>
          </a:xfrm>
          <a:prstGeom prst="roundRect">
            <a:avLst/>
          </a:prstGeom>
          <a:solidFill>
            <a:srgbClr val="F1F5F9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153144" y="1371600"/>
            <a:ext cx="73152" cy="1493520"/>
          </a:xfrm>
          <a:prstGeom prst="rect">
            <a:avLst/>
          </a:prstGeom>
          <a:solidFill>
            <a:srgbClr val="228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354312" y="1536192"/>
            <a:ext cx="221284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B48"/>
                </a:solidFill>
              </a:defRPr>
            </a:pPr>
            <a:r>
              <a:rPr lang="en-US" sz="1500" b="1">
                <a:solidFill>
                  <a:srgbClr val="182B48"/>
                </a:solidFill>
              </a:rPr>
              <a:t>Teachers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54312" y="1938528"/>
            <a:ext cx="2194560" cy="835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E293B"/>
                </a:solidFill>
              </a:defRPr>
            </a:pPr>
            <a:r>
              <a:rPr lang="en-US" sz="1150">
                <a:solidFill>
                  <a:srgbClr val="1E293B"/>
                </a:solidFill>
              </a:rPr>
              <a:t>Active • absent • assigned • under review • exits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3093720"/>
            <a:ext cx="2578608" cy="1493520"/>
          </a:xfrm>
          <a:prstGeom prst="roundRect">
            <a:avLst/>
          </a:prstGeom>
          <a:solidFill>
            <a:srgbClr val="F1F5F9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94360" y="3093720"/>
            <a:ext cx="73152" cy="1493520"/>
          </a:xfrm>
          <a:prstGeom prst="rect">
            <a:avLst/>
          </a:prstGeom>
          <a:solidFill>
            <a:srgbClr val="2D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95528" y="3258312"/>
            <a:ext cx="221284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B48"/>
                </a:solidFill>
              </a:defRPr>
            </a:pPr>
            <a:r>
              <a:rPr lang="en-US" sz="1500" b="1">
                <a:solidFill>
                  <a:srgbClr val="182B48"/>
                </a:solidFill>
              </a:rPr>
              <a:t>Performance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8" y="3660648"/>
            <a:ext cx="2194560" cy="835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E293B"/>
                </a:solidFill>
              </a:defRPr>
            </a:pPr>
            <a:r>
              <a:rPr lang="en-US" sz="1150">
                <a:solidFill>
                  <a:srgbClr val="1E293B"/>
                </a:solidFill>
              </a:rPr>
              <a:t>Observations • Principal feedback • issues • actions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447288" y="3093720"/>
            <a:ext cx="2578608" cy="1493520"/>
          </a:xfrm>
          <a:prstGeom prst="roundRect">
            <a:avLst/>
          </a:prstGeom>
          <a:solidFill>
            <a:srgbClr val="F1F5F9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447288" y="3093720"/>
            <a:ext cx="73152" cy="1493520"/>
          </a:xfrm>
          <a:prstGeom prst="rect">
            <a:avLst/>
          </a:prstGeom>
          <a:solidFill>
            <a:srgbClr val="28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648456" y="3258312"/>
            <a:ext cx="221284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B48"/>
                </a:solidFill>
              </a:defRPr>
            </a:pPr>
            <a:r>
              <a:rPr lang="en-US" sz="1500" b="1">
                <a:solidFill>
                  <a:srgbClr val="182B48"/>
                </a:solidFill>
              </a:rPr>
              <a:t>Operations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48456" y="3660648"/>
            <a:ext cx="2194560" cy="835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E293B"/>
                </a:solidFill>
              </a:defRPr>
            </a:pPr>
            <a:r>
              <a:rPr lang="en-US" sz="1150">
                <a:solidFill>
                  <a:srgbClr val="1E293B"/>
                </a:solidFill>
              </a:rPr>
              <a:t>Substitutions • transfers • replacements • pending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0216" y="3093720"/>
            <a:ext cx="2578608" cy="1493520"/>
          </a:xfrm>
          <a:prstGeom prst="roundRect">
            <a:avLst/>
          </a:prstGeom>
          <a:solidFill>
            <a:srgbClr val="F1F5F9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300216" y="3093720"/>
            <a:ext cx="73152" cy="1493520"/>
          </a:xfrm>
          <a:prstGeom prst="rect">
            <a:avLst/>
          </a:prstGeom>
          <a:solidFill>
            <a:srgbClr val="DC8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01384" y="3258312"/>
            <a:ext cx="221284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B48"/>
                </a:solidFill>
              </a:defRPr>
            </a:pPr>
            <a:r>
              <a:rPr lang="en-US" sz="1500" b="1">
                <a:solidFill>
                  <a:srgbClr val="182B48"/>
                </a:solidFill>
              </a:rPr>
              <a:t>Content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01384" y="3660648"/>
            <a:ext cx="2194560" cy="835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E293B"/>
                </a:solidFill>
              </a:defRPr>
            </a:pPr>
            <a:r>
              <a:rPr lang="en-US" sz="1150">
                <a:solidFill>
                  <a:srgbClr val="1E293B"/>
                </a:solidFill>
              </a:rPr>
              <a:t>Prepared • submitted • reviewed • approved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53144" y="3093720"/>
            <a:ext cx="2578608" cy="1493520"/>
          </a:xfrm>
          <a:prstGeom prst="roundRect">
            <a:avLst/>
          </a:prstGeom>
          <a:solidFill>
            <a:srgbClr val="F1F5F9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153144" y="3093720"/>
            <a:ext cx="73152" cy="1493520"/>
          </a:xfrm>
          <a:prstGeom prst="rect">
            <a:avLst/>
          </a:prstGeom>
          <a:solidFill>
            <a:srgbClr val="228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354312" y="3258312"/>
            <a:ext cx="221284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B48"/>
                </a:solidFill>
              </a:defRPr>
            </a:pPr>
            <a:r>
              <a:rPr lang="en-US" sz="1500" b="1">
                <a:solidFill>
                  <a:srgbClr val="182B48"/>
                </a:solidFill>
              </a:rPr>
              <a:t>KPIs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54312" y="3660648"/>
            <a:ext cx="2194560" cy="835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E293B"/>
                </a:solidFill>
              </a:defRPr>
            </a:pPr>
            <a:r>
              <a:rPr lang="en-US" sz="1150">
                <a:solidFill>
                  <a:srgbClr val="1E293B"/>
                </a:solidFill>
              </a:rPr>
              <a:t>Conversion • joining ratio • closures • manager performance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rPr lang="en-US" sz="800">
                <a:solidFill>
                  <a:srgbClr val="64748B"/>
                </a:solidFill>
              </a:rPr>
              <a:t>Operations Management System  |  Director Overview  |  14</a:t>
            </a:r>
          </a:p>
        </p:txBody>
      </p:sp>
      <p:sp>
        <p:nvSpPr>
          <p:cNvPr id="38" name="Rounded Rectangle 4"/>
          <p:cNvSpPr/>
          <p:nvPr/>
        </p:nvSpPr>
        <p:spPr>
          <a:xfrm>
            <a:off x="594360" y="4815840"/>
            <a:ext cx="2578608" cy="1493520"/>
          </a:xfrm>
          <a:prstGeom prst="roundRect">
            <a:avLst/>
          </a:prstGeom>
          <a:solidFill>
            <a:srgbClr val="F1F5F9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5"/>
          <p:cNvSpPr/>
          <p:nvPr/>
        </p:nvSpPr>
        <p:spPr>
          <a:xfrm>
            <a:off x="594360" y="4815840"/>
            <a:ext cx="73152" cy="1493520"/>
          </a:xfrm>
          <a:prstGeom prst="rect">
            <a:avLst/>
          </a:prstGeom>
          <a:solidFill>
            <a:srgbClr val="2D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6"/>
          <p:cNvSpPr txBox="1"/>
          <p:nvPr/>
        </p:nvSpPr>
        <p:spPr>
          <a:xfrm>
            <a:off x="795528" y="4980432"/>
            <a:ext cx="221284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B48"/>
                </a:solidFill>
              </a:defRPr>
            </a:pPr>
            <a:r>
              <a:rPr lang="en-US" sz="1500" b="1">
                <a:solidFill>
                  <a:srgbClr val="182B48"/>
                </a:solidFill>
              </a:rPr>
              <a:t>Attendance</a:t>
            </a:r>
          </a:p>
        </p:txBody>
      </p:sp>
      <p:sp>
        <p:nvSpPr>
          <p:cNvPr id="41" name="TextBox 7"/>
          <p:cNvSpPr txBox="1"/>
          <p:nvPr/>
        </p:nvSpPr>
        <p:spPr>
          <a:xfrm>
            <a:off x="795528" y="5382768"/>
            <a:ext cx="2194560" cy="835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E293B"/>
                </a:solidFill>
              </a:defRPr>
            </a:pPr>
            <a:r>
              <a:rPr lang="en-US" sz="1150">
                <a:solidFill>
                  <a:srgbClr val="1E293B"/>
                </a:solidFill>
              </a:rPr>
              <a:t>Teachers absent today • managers on leave • missed check-ins</a:t>
            </a:r>
          </a:p>
        </p:txBody>
      </p:sp>
      <p:sp>
        <p:nvSpPr>
          <p:cNvPr id="42" name="Rounded Rectangle 4"/>
          <p:cNvSpPr/>
          <p:nvPr/>
        </p:nvSpPr>
        <p:spPr>
          <a:xfrm>
            <a:off x="3447288" y="4815840"/>
            <a:ext cx="2578608" cy="1493520"/>
          </a:xfrm>
          <a:prstGeom prst="roundRect">
            <a:avLst/>
          </a:prstGeom>
          <a:solidFill>
            <a:srgbClr val="F1F5F9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5"/>
          <p:cNvSpPr/>
          <p:nvPr/>
        </p:nvSpPr>
        <p:spPr>
          <a:xfrm>
            <a:off x="3447288" y="4815840"/>
            <a:ext cx="73152" cy="1493520"/>
          </a:xfrm>
          <a:prstGeom prst="rect">
            <a:avLst/>
          </a:prstGeom>
          <a:solidFill>
            <a:srgbClr val="28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6"/>
          <p:cNvSpPr txBox="1"/>
          <p:nvPr/>
        </p:nvSpPr>
        <p:spPr>
          <a:xfrm>
            <a:off x="3648456" y="4980432"/>
            <a:ext cx="221284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B48"/>
                </a:solidFill>
              </a:defRPr>
            </a:pPr>
            <a:r>
              <a:rPr lang="en-US" sz="1500" b="1">
                <a:solidFill>
                  <a:srgbClr val="182B48"/>
                </a:solidFill>
              </a:rPr>
              <a:t>Payroll</a:t>
            </a:r>
          </a:p>
        </p:txBody>
      </p:sp>
      <p:sp>
        <p:nvSpPr>
          <p:cNvPr id="45" name="TextBox 7"/>
          <p:cNvSpPr txBox="1"/>
          <p:nvPr/>
        </p:nvSpPr>
        <p:spPr>
          <a:xfrm>
            <a:off x="3648456" y="5382768"/>
            <a:ext cx="2194560" cy="835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E293B"/>
                </a:solidFill>
              </a:defRPr>
            </a:pPr>
            <a:r>
              <a:rPr lang="en-US" sz="1150">
                <a:solidFill>
                  <a:srgbClr val="1E293B"/>
                </a:solidFill>
              </a:rPr>
              <a:t>This month • computed • approved • paid</a:t>
            </a:r>
          </a:p>
        </p:txBody>
      </p:sp>
      <p:sp>
        <p:nvSpPr>
          <p:cNvPr id="46" name="Rounded Rectangle 4"/>
          <p:cNvSpPr/>
          <p:nvPr/>
        </p:nvSpPr>
        <p:spPr>
          <a:xfrm>
            <a:off x="6300216" y="4815840"/>
            <a:ext cx="2578608" cy="1493520"/>
          </a:xfrm>
          <a:prstGeom prst="roundRect">
            <a:avLst/>
          </a:prstGeom>
          <a:solidFill>
            <a:srgbClr val="F1F5F9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5"/>
          <p:cNvSpPr/>
          <p:nvPr/>
        </p:nvSpPr>
        <p:spPr>
          <a:xfrm>
            <a:off x="6300216" y="4815840"/>
            <a:ext cx="73152" cy="1493520"/>
          </a:xfrm>
          <a:prstGeom prst="rect">
            <a:avLst/>
          </a:prstGeom>
          <a:solidFill>
            <a:srgbClr val="DC8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6"/>
          <p:cNvSpPr txBox="1"/>
          <p:nvPr/>
        </p:nvSpPr>
        <p:spPr>
          <a:xfrm>
            <a:off x="6501384" y="4980432"/>
            <a:ext cx="221284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B48"/>
                </a:solidFill>
              </a:defRPr>
            </a:pPr>
            <a:r>
              <a:rPr lang="en-US" sz="1500" b="1">
                <a:solidFill>
                  <a:srgbClr val="182B48"/>
                </a:solidFill>
              </a:rPr>
              <a:t>Expenses</a:t>
            </a:r>
          </a:p>
        </p:txBody>
      </p:sp>
      <p:sp>
        <p:nvSpPr>
          <p:cNvPr id="49" name="TextBox 7"/>
          <p:cNvSpPr txBox="1"/>
          <p:nvPr/>
        </p:nvSpPr>
        <p:spPr>
          <a:xfrm>
            <a:off x="6501384" y="5382768"/>
            <a:ext cx="2194560" cy="835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E293B"/>
                </a:solidFill>
              </a:defRPr>
            </a:pPr>
            <a:r>
              <a:rPr lang="en-US" sz="1150">
                <a:solidFill>
                  <a:srgbClr val="1E293B"/>
                </a:solidFill>
              </a:rPr>
              <a:t>Spend vs budget • pending approvals • by area</a:t>
            </a:r>
          </a:p>
        </p:txBody>
      </p:sp>
      <p:sp>
        <p:nvSpPr>
          <p:cNvPr id="50" name="Rounded Rectangle 4"/>
          <p:cNvSpPr/>
          <p:nvPr/>
        </p:nvSpPr>
        <p:spPr>
          <a:xfrm>
            <a:off x="9153144" y="4815840"/>
            <a:ext cx="2578608" cy="1493520"/>
          </a:xfrm>
          <a:prstGeom prst="roundRect">
            <a:avLst/>
          </a:prstGeom>
          <a:solidFill>
            <a:srgbClr val="F1F5F9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"/>
          <p:cNvSpPr/>
          <p:nvPr/>
        </p:nvSpPr>
        <p:spPr>
          <a:xfrm>
            <a:off x="9153144" y="4815840"/>
            <a:ext cx="73152" cy="1493520"/>
          </a:xfrm>
          <a:prstGeom prst="rect">
            <a:avLst/>
          </a:prstGeom>
          <a:solidFill>
            <a:srgbClr val="228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6"/>
          <p:cNvSpPr txBox="1"/>
          <p:nvPr/>
        </p:nvSpPr>
        <p:spPr>
          <a:xfrm>
            <a:off x="9354312" y="4980432"/>
            <a:ext cx="221284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B48"/>
                </a:solidFill>
              </a:defRPr>
            </a:pPr>
            <a:r>
              <a:rPr lang="en-US" sz="1500" b="1">
                <a:solidFill>
                  <a:srgbClr val="182B48"/>
                </a:solidFill>
              </a:rPr>
              <a:t>Receivables</a:t>
            </a:r>
          </a:p>
        </p:txBody>
      </p:sp>
      <p:sp>
        <p:nvSpPr>
          <p:cNvPr id="53" name="TextBox 7"/>
          <p:cNvSpPr txBox="1"/>
          <p:nvPr/>
        </p:nvSpPr>
        <p:spPr>
          <a:xfrm>
            <a:off x="9354312" y="5382768"/>
            <a:ext cx="2194560" cy="835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E293B"/>
                </a:solidFill>
              </a:defRPr>
            </a:pPr>
            <a:r>
              <a:rPr lang="en-US" sz="1150">
                <a:solidFill>
                  <a:srgbClr val="1E293B"/>
                </a:solidFill>
              </a:rPr>
              <a:t>Billed • collected • outstanding • overdue schools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B48"/>
                </a:solidFill>
              </a:defRPr>
            </a:pPr>
            <a:r>
              <a:rPr lang="en-US" sz="2700" b="1">
                <a:solidFill>
                  <a:srgbClr val="182B48"/>
                </a:solidFill>
              </a:rPr>
              <a:t>What management will be able to see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rPr lang="en-US" sz="1200">
                <a:solidFill>
                  <a:srgbClr val="64748B"/>
                </a:solidFill>
              </a:rPr>
              <a:t>The system is designed around decision-making, not just data entry.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rPr lang="en-US" sz="1500">
                <a:solidFill>
                  <a:srgbClr val="1E293B"/>
                </a:solidFill>
              </a:rPr>
              <a:t>• Where is each manager working today?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rPr lang="en-US" sz="1500">
                <a:solidFill>
                  <a:srgbClr val="1E293B"/>
                </a:solidFill>
              </a:rPr>
              <a:t>• Which schools were visited this week?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rPr lang="en-US" sz="1500">
                <a:solidFill>
                  <a:srgbClr val="1E293B"/>
                </a:solidFill>
              </a:rPr>
              <a:t>• Which school opportunities are close to closure?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rPr lang="en-US" sz="1500">
                <a:solidFill>
                  <a:srgbClr val="1E293B"/>
                </a:solidFill>
              </a:rPr>
              <a:t>• Which MoUs are pending?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rPr lang="en-US" sz="1500">
                <a:solidFill>
                  <a:srgbClr val="1E293B"/>
                </a:solidFill>
              </a:rPr>
              <a:t>• How many candidates were selected and how many actually joined?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rPr lang="en-US" sz="1500">
                <a:solidFill>
                  <a:srgbClr val="1E293B"/>
                </a:solidFill>
              </a:rPr>
              <a:t>• Which teacher is assigned to each school?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rPr lang="en-US" sz="1500">
                <a:solidFill>
                  <a:srgbClr val="1E293B"/>
                </a:solidFill>
              </a:rPr>
              <a:t>• Which teachers need observation or correction?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rPr lang="en-US" sz="1500">
                <a:solidFill>
                  <a:srgbClr val="1E293B"/>
                </a:solidFill>
              </a:rPr>
              <a:t>• Which schools need a substitute today — and who is absent?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rPr lang="en-US" sz="1500">
                <a:solidFill>
                  <a:srgbClr val="1E293B"/>
                </a:solidFill>
              </a:rPr>
              <a:t>• What tasks are overdue, and why?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rPr lang="en-US" sz="1500">
                <a:solidFill>
                  <a:srgbClr val="1E293B"/>
                </a:solidFill>
              </a:rPr>
              <a:t>• What is this month's payroll, and has it been approved?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rPr lang="en-US" sz="1500">
                <a:solidFill>
                  <a:srgbClr val="1E293B"/>
                </a:solidFill>
              </a:rPr>
              <a:t>• How much did we spend this month, by area and category?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rPr lang="en-US" sz="1500">
                <a:solidFill>
                  <a:srgbClr val="1E293B"/>
                </a:solidFill>
              </a:rPr>
              <a:t>• Which schools owe us money, and for how long?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rPr lang="en-US" sz="1500">
                <a:solidFill>
                  <a:srgbClr val="1E293B"/>
                </a:solidFill>
              </a:rPr>
              <a:t>• What happened last week — and what is planned next week?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rPr lang="en-US" sz="800">
                <a:solidFill>
                  <a:srgbClr val="64748B"/>
                </a:solidFill>
              </a:rPr>
              <a:t>Operations Management System  |  Director Overview  |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B48"/>
                </a:solidFill>
              </a:defRPr>
            </a:pPr>
            <a:r>
              <a:rPr lang="en-US" sz="2700" b="1">
                <a:solidFill>
                  <a:srgbClr val="182B48"/>
                </a:solidFill>
              </a:rPr>
              <a:t>Core KPIs &amp; Reports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rPr lang="en-US" sz="1200">
                <a:solidFill>
                  <a:srgbClr val="64748B"/>
                </a:solidFill>
              </a:rPr>
              <a:t>The system converts daily operations and finance into measurable management information.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3337560" cy="1493520"/>
          </a:xfrm>
          <a:prstGeom prst="roundRect">
            <a:avLst/>
          </a:prstGeom>
          <a:solidFill>
            <a:srgbClr val="F1F5F9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371600"/>
            <a:ext cx="73152" cy="1493520"/>
          </a:xfrm>
          <a:prstGeom prst="rect">
            <a:avLst/>
          </a:prstGeom>
          <a:solidFill>
            <a:srgbClr val="2D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536192"/>
            <a:ext cx="2971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B48"/>
                </a:solidFill>
              </a:defRPr>
            </a:pPr>
            <a:r>
              <a:rPr lang="en-US" sz="1500" b="1">
                <a:solidFill>
                  <a:srgbClr val="182B48"/>
                </a:solidFill>
              </a:rPr>
              <a:t>School Acquisition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938528"/>
            <a:ext cx="2953512" cy="835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E293B"/>
                </a:solidFill>
              </a:defRPr>
            </a:pPr>
            <a:r>
              <a:rPr lang="en-US" sz="1150">
                <a:solidFill>
                  <a:srgbClr val="1E293B"/>
                </a:solidFill>
              </a:rPr>
              <a:t>Visits • Follow-ups • MoUs • Conversion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71600"/>
            <a:ext cx="3337560" cy="1493520"/>
          </a:xfrm>
          <a:prstGeom prst="roundRect">
            <a:avLst/>
          </a:prstGeom>
          <a:solidFill>
            <a:srgbClr val="F1F5F9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0" y="1371600"/>
            <a:ext cx="73152" cy="1493520"/>
          </a:xfrm>
          <a:prstGeom prst="rect">
            <a:avLst/>
          </a:prstGeom>
          <a:solidFill>
            <a:srgbClr val="28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90288" y="1536192"/>
            <a:ext cx="2971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B48"/>
                </a:solidFill>
              </a:defRPr>
            </a:pPr>
            <a:r>
              <a:rPr lang="en-US" sz="1500" b="1">
                <a:solidFill>
                  <a:srgbClr val="182B48"/>
                </a:solidFill>
              </a:rPr>
              <a:t>Recruitment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1938528"/>
            <a:ext cx="2953512" cy="835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E293B"/>
                </a:solidFill>
              </a:defRPr>
            </a:pPr>
            <a:r>
              <a:rPr lang="en-US" sz="1150">
                <a:solidFill>
                  <a:srgbClr val="1E293B"/>
                </a:solidFill>
              </a:rPr>
              <a:t>Assessed • Selected • Offers • Joining Ratio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371600"/>
            <a:ext cx="3337560" cy="1493520"/>
          </a:xfrm>
          <a:prstGeom prst="roundRect">
            <a:avLst/>
          </a:prstGeom>
          <a:solidFill>
            <a:srgbClr val="F1F5F9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92440" y="1371600"/>
            <a:ext cx="73152" cy="1493520"/>
          </a:xfrm>
          <a:prstGeom prst="rect">
            <a:avLst/>
          </a:prstGeom>
          <a:solidFill>
            <a:srgbClr val="DC8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93608" y="1536192"/>
            <a:ext cx="2971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B48"/>
                </a:solidFill>
              </a:defRPr>
            </a:pPr>
            <a:r>
              <a:rPr lang="en-US" sz="1500" b="1">
                <a:solidFill>
                  <a:srgbClr val="182B48"/>
                </a:solidFill>
              </a:rPr>
              <a:t>Training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1938528"/>
            <a:ext cx="2953512" cy="835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E293B"/>
                </a:solidFill>
              </a:defRPr>
            </a:pPr>
            <a:r>
              <a:rPr lang="en-US" sz="1150">
                <a:solidFill>
                  <a:srgbClr val="1E293B"/>
                </a:solidFill>
              </a:rPr>
              <a:t>Started • Completed • Pending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093720"/>
            <a:ext cx="3337560" cy="1493520"/>
          </a:xfrm>
          <a:prstGeom prst="roundRect">
            <a:avLst/>
          </a:prstGeom>
          <a:solidFill>
            <a:srgbClr val="F1F5F9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85800" y="3093720"/>
            <a:ext cx="73152" cy="1493520"/>
          </a:xfrm>
          <a:prstGeom prst="rect">
            <a:avLst/>
          </a:prstGeom>
          <a:solidFill>
            <a:srgbClr val="2D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86968" y="3258312"/>
            <a:ext cx="2971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B48"/>
                </a:solidFill>
              </a:defRPr>
            </a:pPr>
            <a:r>
              <a:rPr lang="en-US" sz="1500" b="1">
                <a:solidFill>
                  <a:srgbClr val="182B48"/>
                </a:solidFill>
              </a:rPr>
              <a:t>Teacher Operations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3660648"/>
            <a:ext cx="2953512" cy="835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E293B"/>
                </a:solidFill>
              </a:defRPr>
            </a:pPr>
            <a:r>
              <a:rPr lang="en-US" sz="1150">
                <a:solidFill>
                  <a:srgbClr val="1E293B"/>
                </a:solidFill>
              </a:rPr>
              <a:t>Active • Absent • Transfers • Exits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093720"/>
            <a:ext cx="3337560" cy="1493520"/>
          </a:xfrm>
          <a:prstGeom prst="roundRect">
            <a:avLst/>
          </a:prstGeom>
          <a:solidFill>
            <a:srgbClr val="F1F5F9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389120" y="3093720"/>
            <a:ext cx="73152" cy="1493520"/>
          </a:xfrm>
          <a:prstGeom prst="rect">
            <a:avLst/>
          </a:prstGeom>
          <a:solidFill>
            <a:srgbClr val="28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90288" y="3258312"/>
            <a:ext cx="2971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B48"/>
                </a:solidFill>
              </a:defRPr>
            </a:pPr>
            <a:r>
              <a:rPr lang="en-US" sz="1500" b="1">
                <a:solidFill>
                  <a:srgbClr val="182B48"/>
                </a:solidFill>
              </a:rPr>
              <a:t>Performance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0288" y="3660648"/>
            <a:ext cx="2953512" cy="835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E293B"/>
                </a:solidFill>
              </a:defRPr>
            </a:pPr>
            <a:r>
              <a:rPr lang="en-US" sz="1150">
                <a:solidFill>
                  <a:srgbClr val="1E293B"/>
                </a:solidFill>
              </a:rPr>
              <a:t>Observations • Issues • Resolved • Replacements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92440" y="3093720"/>
            <a:ext cx="3337560" cy="1493520"/>
          </a:xfrm>
          <a:prstGeom prst="roundRect">
            <a:avLst/>
          </a:prstGeom>
          <a:solidFill>
            <a:srgbClr val="F1F5F9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092440" y="3093720"/>
            <a:ext cx="73152" cy="1493520"/>
          </a:xfrm>
          <a:prstGeom prst="rect">
            <a:avLst/>
          </a:prstGeom>
          <a:solidFill>
            <a:srgbClr val="DC8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93608" y="3258312"/>
            <a:ext cx="2971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B48"/>
                </a:solidFill>
              </a:defRPr>
            </a:pPr>
            <a:r>
              <a:rPr lang="en-US" sz="1500" b="1">
                <a:solidFill>
                  <a:srgbClr val="182B48"/>
                </a:solidFill>
              </a:rPr>
              <a:t>Manager Productivity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93608" y="3660648"/>
            <a:ext cx="2953512" cy="835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E293B"/>
                </a:solidFill>
              </a:defRPr>
            </a:pPr>
            <a:r>
              <a:rPr lang="en-US" sz="1150">
                <a:solidFill>
                  <a:srgbClr val="1E293B"/>
                </a:solidFill>
              </a:rPr>
              <a:t>Tasks • Visits • Closures • Overdues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rPr lang="en-US" sz="800">
                <a:solidFill>
                  <a:srgbClr val="64748B"/>
                </a:solidFill>
              </a:rPr>
              <a:t>Operations Management System  |  Director Overview  |  16</a:t>
            </a:r>
          </a:p>
        </p:txBody>
      </p:sp>
      <p:sp>
        <p:nvSpPr>
          <p:cNvPr id="30" name="Rounded Rectangle 4"/>
          <p:cNvSpPr/>
          <p:nvPr/>
        </p:nvSpPr>
        <p:spPr>
          <a:xfrm>
            <a:off x="685800" y="4815840"/>
            <a:ext cx="3337560" cy="1493520"/>
          </a:xfrm>
          <a:prstGeom prst="roundRect">
            <a:avLst/>
          </a:prstGeom>
          <a:solidFill>
            <a:srgbClr val="F1F5F9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5"/>
          <p:cNvSpPr/>
          <p:nvPr/>
        </p:nvSpPr>
        <p:spPr>
          <a:xfrm>
            <a:off x="685800" y="4815840"/>
            <a:ext cx="73152" cy="1493520"/>
          </a:xfrm>
          <a:prstGeom prst="rect">
            <a:avLst/>
          </a:prstGeom>
          <a:solidFill>
            <a:srgbClr val="2D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6"/>
          <p:cNvSpPr txBox="1"/>
          <p:nvPr/>
        </p:nvSpPr>
        <p:spPr>
          <a:xfrm>
            <a:off x="886968" y="4980432"/>
            <a:ext cx="2971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B48"/>
                </a:solidFill>
              </a:defRPr>
            </a:pPr>
            <a:r>
              <a:rPr lang="en-US" sz="1500" b="1">
                <a:solidFill>
                  <a:srgbClr val="182B48"/>
                </a:solidFill>
              </a:rPr>
              <a:t>Attendance</a:t>
            </a:r>
          </a:p>
        </p:txBody>
      </p:sp>
      <p:sp>
        <p:nvSpPr>
          <p:cNvPr id="33" name="TextBox 7"/>
          <p:cNvSpPr txBox="1"/>
          <p:nvPr/>
        </p:nvSpPr>
        <p:spPr>
          <a:xfrm>
            <a:off x="886968" y="5382768"/>
            <a:ext cx="2953512" cy="835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E293B"/>
                </a:solidFill>
              </a:defRPr>
            </a:pPr>
            <a:r>
              <a:rPr lang="en-US" sz="1150">
                <a:solidFill>
                  <a:srgbClr val="1E293B"/>
                </a:solidFill>
              </a:rPr>
              <a:t>Teacher % • Manager % • LOP days</a:t>
            </a:r>
          </a:p>
        </p:txBody>
      </p:sp>
      <p:sp>
        <p:nvSpPr>
          <p:cNvPr id="34" name="Rounded Rectangle 4"/>
          <p:cNvSpPr/>
          <p:nvPr/>
        </p:nvSpPr>
        <p:spPr>
          <a:xfrm>
            <a:off x="4389120" y="4815840"/>
            <a:ext cx="3337560" cy="1493520"/>
          </a:xfrm>
          <a:prstGeom prst="roundRect">
            <a:avLst/>
          </a:prstGeom>
          <a:solidFill>
            <a:srgbClr val="F1F5F9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5"/>
          <p:cNvSpPr/>
          <p:nvPr/>
        </p:nvSpPr>
        <p:spPr>
          <a:xfrm>
            <a:off x="4389120" y="4815840"/>
            <a:ext cx="73152" cy="1493520"/>
          </a:xfrm>
          <a:prstGeom prst="rect">
            <a:avLst/>
          </a:prstGeom>
          <a:solidFill>
            <a:srgbClr val="289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6"/>
          <p:cNvSpPr txBox="1"/>
          <p:nvPr/>
        </p:nvSpPr>
        <p:spPr>
          <a:xfrm>
            <a:off x="4590288" y="4980432"/>
            <a:ext cx="2971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B48"/>
                </a:solidFill>
              </a:defRPr>
            </a:pPr>
            <a:r>
              <a:rPr lang="en-US" sz="1500" b="1">
                <a:solidFill>
                  <a:srgbClr val="182B48"/>
                </a:solidFill>
              </a:rPr>
              <a:t>Payroll &amp; Expenses</a:t>
            </a:r>
          </a:p>
        </p:txBody>
      </p:sp>
      <p:sp>
        <p:nvSpPr>
          <p:cNvPr id="37" name="TextBox 7"/>
          <p:cNvSpPr txBox="1"/>
          <p:nvPr/>
        </p:nvSpPr>
        <p:spPr>
          <a:xfrm>
            <a:off x="4590288" y="5382768"/>
            <a:ext cx="2953512" cy="835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E293B"/>
                </a:solidFill>
              </a:defRPr>
            </a:pPr>
            <a:r>
              <a:rPr lang="en-US" sz="1150">
                <a:solidFill>
                  <a:srgbClr val="1E293B"/>
                </a:solidFill>
              </a:rPr>
              <a:t>Payroll cost • Spend by area • Cost per school</a:t>
            </a:r>
          </a:p>
        </p:txBody>
      </p:sp>
      <p:sp>
        <p:nvSpPr>
          <p:cNvPr id="38" name="Rounded Rectangle 4"/>
          <p:cNvSpPr/>
          <p:nvPr/>
        </p:nvSpPr>
        <p:spPr>
          <a:xfrm>
            <a:off x="8092440" y="4815840"/>
            <a:ext cx="3337560" cy="1493520"/>
          </a:xfrm>
          <a:prstGeom prst="roundRect">
            <a:avLst/>
          </a:prstGeom>
          <a:solidFill>
            <a:srgbClr val="F1F5F9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5"/>
          <p:cNvSpPr/>
          <p:nvPr/>
        </p:nvSpPr>
        <p:spPr>
          <a:xfrm>
            <a:off x="8092440" y="4815840"/>
            <a:ext cx="73152" cy="1493520"/>
          </a:xfrm>
          <a:prstGeom prst="rect">
            <a:avLst/>
          </a:prstGeom>
          <a:solidFill>
            <a:srgbClr val="DC8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6"/>
          <p:cNvSpPr txBox="1"/>
          <p:nvPr/>
        </p:nvSpPr>
        <p:spPr>
          <a:xfrm>
            <a:off x="8293608" y="4980432"/>
            <a:ext cx="2971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B48"/>
                </a:solidFill>
              </a:defRPr>
            </a:pPr>
            <a:r>
              <a:rPr lang="en-US" sz="1500" b="1">
                <a:solidFill>
                  <a:srgbClr val="182B48"/>
                </a:solidFill>
              </a:rPr>
              <a:t>Collections</a:t>
            </a:r>
          </a:p>
        </p:txBody>
      </p:sp>
      <p:sp>
        <p:nvSpPr>
          <p:cNvPr id="41" name="TextBox 7"/>
          <p:cNvSpPr txBox="1"/>
          <p:nvPr/>
        </p:nvSpPr>
        <p:spPr>
          <a:xfrm>
            <a:off x="8293608" y="5382768"/>
            <a:ext cx="2953512" cy="835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E293B"/>
                </a:solidFill>
              </a:defRPr>
            </a:pPr>
            <a:r>
              <a:rPr lang="en-US" sz="1150">
                <a:solidFill>
                  <a:srgbClr val="1E293B"/>
                </a:solidFill>
              </a:rPr>
              <a:t>Billed • Collected • Outstanding • Ageing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FFFFFF"/>
                </a:solidFill>
              </a:defRPr>
            </a:pPr>
            <a:r>
              <a:rPr lang="en-US" sz="3100" b="1">
                <a:solidFill>
                  <a:srgbClr val="FFFFFF"/>
                </a:solidFill>
              </a:rPr>
              <a:t>The Business Outcome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00200"/>
            <a:ext cx="102412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rPr lang="en-US" sz="1700">
                <a:solidFill>
                  <a:srgbClr val="FFFFFF"/>
                </a:solidFill>
              </a:rPr>
              <a:t>• One centralized source of truth for management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rPr lang="en-US" sz="1700">
                <a:solidFill>
                  <a:srgbClr val="FFFFFF"/>
                </a:solidFill>
              </a:rPr>
              <a:t>• Clear accountability for every manager activity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rPr lang="en-US" sz="1700">
                <a:solidFill>
                  <a:srgbClr val="FFFFFF"/>
                </a:solidFill>
              </a:rPr>
              <a:t>• Complete visibility from school prospect to active school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rPr lang="en-US" sz="1700">
                <a:solidFill>
                  <a:srgbClr val="FFFFFF"/>
                </a:solidFill>
              </a:rPr>
              <a:t>• Complete visibility from candidate selection to active teacher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rPr lang="en-US" sz="1700">
                <a:solidFill>
                  <a:srgbClr val="FFFFFF"/>
                </a:solidFill>
              </a:rPr>
              <a:t>• Faster response to teacher absence and school issues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rPr lang="en-US" sz="1700">
                <a:solidFill>
                  <a:srgbClr val="FFFFFF"/>
                </a:solidFill>
              </a:rPr>
              <a:t>• Historical record of observations, transfers and replacements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rPr lang="en-US" sz="1700">
                <a:solidFill>
                  <a:srgbClr val="FFFFFF"/>
                </a:solidFill>
              </a:rPr>
              <a:t>• Payroll, office expenses and school collections tracked in the same system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rPr lang="en-US" sz="1700">
                <a:solidFill>
                  <a:srgbClr val="FFFFFF"/>
                </a:solidFill>
              </a:rPr>
              <a:t>• Less manual chasing, fewer fragmented reports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rPr lang="en-US" sz="1700">
                <a:solidFill>
                  <a:srgbClr val="FFFFFF"/>
                </a:solidFill>
              </a:rPr>
              <a:t>• Management can monitor the business from one place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06440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B4DCF5"/>
                </a:solidFill>
              </a:defRPr>
            </a:pPr>
            <a:r>
              <a:rPr lang="en-US" sz="1600" b="1" dirty="0">
                <a:solidFill>
                  <a:srgbClr val="B4DCF5"/>
                </a:solidFill>
              </a:rPr>
              <a:t>Goal: Run the operation through a system — not through scattered calls, messages and spreadsheets.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2261</Words>
  <Application>Microsoft Office PowerPoint</Application>
  <PresentationFormat>Widescreen</PresentationFormat>
  <Paragraphs>336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Shanmugham Sundaram</dc:creator>
  <cp:keywords/>
  <dc:description>generated using python-pptx</dc:description>
  <cp:lastModifiedBy>Office</cp:lastModifiedBy>
  <cp:revision>3</cp:revision>
  <dcterms:created xsi:type="dcterms:W3CDTF">2013-01-27T09:14:16Z</dcterms:created>
  <dcterms:modified xsi:type="dcterms:W3CDTF">2026-10-05T14:56:30Z</dcterms:modified>
  <cp:category/>
</cp:coreProperties>
</file>